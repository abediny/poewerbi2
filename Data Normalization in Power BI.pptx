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60" r:id="rId5"/>
    <p:sldId id="261" r:id="rId6"/>
    <p:sldId id="262" r:id="rId7"/>
    <p:sldId id="263" r:id="rId8"/>
    <p:sldId id="264" r:id="rId9"/>
    <p:sldId id="265" r:id="rId10"/>
    <p:sldId id="266"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2" d="100"/>
          <a:sy n="122" d="100"/>
        </p:scale>
        <p:origin x="78" y="52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5468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Hey everyone, and welcome! Today, we're going to unlock a superpower for working with data in Power BI. We'll learn how to organize data so Power BI can truly shine. You don't need any IT background for this, just a willingness to make sense of things. Let's dive into making our data work for us.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exactly is data? It's really just a collection of facts, like a grocery receipt or a list of students. We want this raw information to tell a compelling story in Power BI. Think of it like building a story; you need organized characters and events to make it understandable. We'll see how organizing our data helps us tell those stories.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imagine a giant spreadsheet with tons of columns, like the one you see here. This is what we call a 'flat file,' and it can quickly become a nightmare. Notice how 'Alice Smith' and her email are repeated every time she buys something? This leads to typos, huge file sizes, and makes it super hard to update information. What if Alice moves? You'd have to change her address in multiple places, and you might miss one! This is the problem we want to solve.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brings us to normalization. It's simply the process of organizing your data into multiple, related tables. Our goal is to reduce repetition and improve accuracy, just like organizing your closet. In Power BI, we call this 'Data Modeling.' It's all about splitting that big, messy table into smaller, specialized tables, making everything much more manageable.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we've talked about splitting up our data. Now, let's meet the first type of table: the Fact table. Think of this as the 'what happened' table; it records all the events and numbers. This table holds the actual measurements, like how many items were sold or the total price of a sale. It's usually the biggest table because every single event gets its own row. Next, we'll look at the tables that give meaning to these facts.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understand the 'what happened' with our Fact table, let's introduce the Dimension tables. These are the 'who, what, and where' of your data. They give context to those numbers in your Fact table, like customer names, product descriptions, or store locations. These tables usually have fewer rows and change less often, making them perfect for filtering and categorizing your reports. Together, these two types of tables form a powerful structure.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that powerful structure is what we call the Star Schema. This is the gold standard for organizing data in Power BI. Imagine your Fact table in the middle, surrounded by all those Dimension tables, just like points on a star. They connect using special IDs, which are like unique labels. This star shape makes it super easy and fast for Power BI to give you answers and insights. Now, you might be thinking, 'Why go through all this trouble?' Let's explore the benefits.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we've talked about the Star Schema, but why go through all this effort? Well, it's like organizing your pantry; it just makes everything better. First, you get amazing accuracy. If Alice moves, you change her address in one spot, and every report about Alice is instantly correct. You don't have to hunt down every mention of her. Second, your reports will be much faster. Power BI loves organized data, so it can zip through calculations and show you results in a flash. And finally, it makes building reports so much simpler. You won't be fighting with messy data; you'll be creating beautiful charts with ease. This organized approach saves you time and prevents headaches later on, especially as your data grows. Now, let's look at the actual files we'll be working with today.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understand the benefits, let's see what this looks like in practice. We're going to work with a simple dataset today. We'll start with our 'Before' file, which is flat_sales_data.csv. Think of this as that messy closet we talked about earlier, with everything in one big pile. Then, we'll see how we transform it into our 'After' files: fact_sales, dim_customers, and dim_products. These are our organized tables, like the shirts on hangers and shoes on racks. We'll explore how these files connect using common IDs, like CustomerID, to bring our data story to life. This hands-on look will really solidify what we've been discussing. So, let's quickly recap everything before we dive into Power BI.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quickly sum it all up: normalization is all about organizing your data. We learned that 'facts' are your events and numbers, like sales transactions. 'Dimensions' are your descriptions, like who bought what or where. And putting it all together in a 'Star Schema' is your recipe for success in Power BI. This structure makes your data accurate, fast, and easy to work with. Now, the best way to really understand this is to do it ourselves. We're going to jump into Power BI and load this workshop dataset. But before we do, are there any questions about what we've covered so far?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2.png"/><Relationship Id="rId7"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7144"/>
            <a:ext cx="9144000" cy="5143500"/>
          </a:xfrm>
          <a:prstGeom prst="rect">
            <a:avLst/>
          </a:prstGeom>
        </p:spPr>
      </p:pic>
      <p:sp>
        <p:nvSpPr>
          <p:cNvPr id="4" name="Text 0"/>
          <p:cNvSpPr/>
          <p:nvPr/>
        </p:nvSpPr>
        <p:spPr>
          <a:xfrm>
            <a:off x="1147465" y="2159645"/>
            <a:ext cx="6849070" cy="553641"/>
          </a:xfrm>
          <a:prstGeom prst="rect">
            <a:avLst/>
          </a:prstGeom>
          <a:noFill/>
          <a:ln/>
        </p:spPr>
        <p:txBody>
          <a:bodyPr wrap="square" lIns="0" tIns="0" rIns="0" bIns="0" rtlCol="0" anchor="t">
            <a:spAutoFit/>
          </a:bodyPr>
          <a:lstStyle/>
          <a:p>
            <a:pPr marL="0" indent="0" algn="ctr">
              <a:buNone/>
            </a:pPr>
            <a:r>
              <a:rPr lang="en-US" sz="3300" b="1" dirty="0">
                <a:solidFill>
                  <a:srgbClr val="1E293B"/>
                </a:solidFill>
                <a:latin typeface="Inter Bold" pitchFamily="34" charset="0"/>
                <a:ea typeface="Inter Bold" pitchFamily="34" charset="-122"/>
                <a:cs typeface="Inter Bold" pitchFamily="34" charset="-120"/>
              </a:rPr>
              <a:t>Data Normalization in Power BI</a:t>
            </a:r>
            <a:endParaRPr lang="en-US" sz="3300" dirty="0"/>
          </a:p>
        </p:txBody>
      </p:sp>
      <p:sp>
        <p:nvSpPr>
          <p:cNvPr id="6" name="Text 2"/>
          <p:cNvSpPr/>
          <p:nvPr/>
        </p:nvSpPr>
        <p:spPr>
          <a:xfrm>
            <a:off x="2224385" y="2856161"/>
            <a:ext cx="4695230" cy="433452"/>
          </a:xfrm>
          <a:prstGeom prst="rect">
            <a:avLst/>
          </a:prstGeom>
          <a:noFill/>
          <a:ln/>
        </p:spPr>
        <p:txBody>
          <a:bodyPr wrap="square" lIns="238125" tIns="85090" rIns="238125" bIns="85090" rtlCol="0" anchor="t">
            <a:spAutoFit/>
          </a:bodyPr>
          <a:lstStyle/>
          <a:p>
            <a:pPr marL="0" indent="0" algn="l">
              <a:buNone/>
            </a:pPr>
            <a:r>
              <a:rPr lang="en-US" sz="1700" dirty="0">
                <a:solidFill>
                  <a:srgbClr val="FFFFFF"/>
                </a:solidFill>
                <a:latin typeface="Inter" pitchFamily="34" charset="0"/>
                <a:ea typeface="Inter" pitchFamily="34" charset="-122"/>
                <a:cs typeface="Inter" pitchFamily="34" charset="-120"/>
              </a:rPr>
              <a:t>A Beginner's Guide for </a:t>
            </a:r>
            <a:r>
              <a:rPr lang="en-US" sz="1700" dirty="0" err="1">
                <a:solidFill>
                  <a:srgbClr val="FFFFFF"/>
                </a:solidFill>
                <a:latin typeface="Inter" pitchFamily="34" charset="0"/>
                <a:ea typeface="Inter" pitchFamily="34" charset="-122"/>
                <a:cs typeface="Inter" pitchFamily="34" charset="-120"/>
              </a:rPr>
              <a:t>NonIT</a:t>
            </a:r>
            <a:r>
              <a:rPr lang="en-US" sz="1700" dirty="0">
                <a:solidFill>
                  <a:srgbClr val="FFFFFF"/>
                </a:solidFill>
                <a:latin typeface="Inter" pitchFamily="34" charset="0"/>
                <a:ea typeface="Inter" pitchFamily="34" charset="-122"/>
                <a:cs typeface="Inter" pitchFamily="34" charset="-120"/>
              </a:rPr>
              <a:t> Students</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7144"/>
            <a:ext cx="9144000" cy="5143500"/>
          </a:xfrm>
          <a:prstGeom prst="rect">
            <a:avLst/>
          </a:prstGeom>
        </p:spPr>
      </p:pic>
      <p:sp>
        <p:nvSpPr>
          <p:cNvPr id="4" name="Text 0"/>
          <p:cNvSpPr/>
          <p:nvPr/>
        </p:nvSpPr>
        <p:spPr>
          <a:xfrm>
            <a:off x="571500" y="706087"/>
            <a:ext cx="8572500" cy="414338"/>
          </a:xfrm>
          <a:prstGeom prst="rect">
            <a:avLst/>
          </a:prstGeom>
          <a:noFill/>
          <a:ln/>
        </p:spPr>
        <p:txBody>
          <a:bodyPr wrap="square" lIns="0" tIns="0" rIns="0" bIns="0" rtlCol="0" anchor="t">
            <a:spAutoFit/>
          </a:bodyPr>
          <a:lstStyle/>
          <a:p>
            <a:pPr marL="0" indent="0" algn="l">
              <a:buNone/>
            </a:pPr>
            <a:r>
              <a:rPr lang="en-US" sz="2450" b="1" dirty="0">
                <a:solidFill>
                  <a:srgbClr val="1E293B"/>
                </a:solidFill>
                <a:latin typeface="Inter Bold" pitchFamily="34" charset="0"/>
                <a:ea typeface="Inter Bold" pitchFamily="34" charset="-122"/>
                <a:cs typeface="Inter Bold" pitchFamily="34" charset="-120"/>
              </a:rPr>
              <a:t>What is Data, Really?</a:t>
            </a:r>
            <a:endParaRPr lang="en-US" sz="2450" dirty="0"/>
          </a:p>
        </p:txBody>
      </p:sp>
      <p:sp>
        <p:nvSpPr>
          <p:cNvPr id="5" name="Text 1"/>
          <p:cNvSpPr/>
          <p:nvPr/>
        </p:nvSpPr>
        <p:spPr>
          <a:xfrm>
            <a:off x="571500" y="1477612"/>
            <a:ext cx="3857625" cy="822927"/>
          </a:xfrm>
          <a:prstGeom prst="rect">
            <a:avLst/>
          </a:prstGeom>
          <a:noFill/>
          <a:ln/>
        </p:spPr>
        <p:txBody>
          <a:bodyPr wrap="square" lIns="0" tIns="0" rIns="0" bIns="0" rtlCol="0" anchor="t">
            <a:spAutoFit/>
          </a:bodyPr>
          <a:lstStyle/>
          <a:p>
            <a:pPr marL="0" indent="0" algn="l">
              <a:lnSpc>
                <a:spcPct val="128000"/>
              </a:lnSpc>
              <a:buNone/>
            </a:pPr>
            <a:r>
              <a:rPr lang="en-US" sz="1200" b="1" dirty="0">
                <a:solidFill>
                  <a:srgbClr val="334155"/>
                </a:solidFill>
                <a:latin typeface="Inter Bold" pitchFamily="34" charset="0"/>
                <a:ea typeface="Inter Bold" pitchFamily="34" charset="-122"/>
                <a:cs typeface="Inter Bold" pitchFamily="34" charset="-120"/>
              </a:rPr>
              <a:t>Data is just a collection of facts.</a:t>
            </a:r>
            <a:r>
              <a:rPr lang="en-US" sz="1250" dirty="0">
                <a:solidFill>
                  <a:srgbClr val="334155"/>
                </a:solidFill>
                <a:latin typeface="Inter" pitchFamily="34" charset="0"/>
                <a:ea typeface="Inter" pitchFamily="34" charset="-122"/>
                <a:cs typeface="Inter" pitchFamily="34" charset="-120"/>
              </a:rPr>
              <a:t>
It's the raw information we gather from the world around us.</a:t>
            </a:r>
            <a:endParaRPr lang="en-US" sz="1250" dirty="0"/>
          </a:p>
        </p:txBody>
      </p:sp>
      <p:sp>
        <p:nvSpPr>
          <p:cNvPr id="6" name="Text 2"/>
          <p:cNvSpPr/>
          <p:nvPr/>
        </p:nvSpPr>
        <p:spPr>
          <a:xfrm>
            <a:off x="571500" y="2514851"/>
            <a:ext cx="3857625" cy="548618"/>
          </a:xfrm>
          <a:prstGeom prst="rect">
            <a:avLst/>
          </a:prstGeom>
          <a:noFill/>
          <a:ln/>
        </p:spPr>
        <p:txBody>
          <a:bodyPr wrap="square" lIns="0" tIns="0" rIns="0" bIns="0" rtlCol="0" anchor="t">
            <a:spAutoFit/>
          </a:bodyPr>
          <a:lstStyle/>
          <a:p>
            <a:pPr marL="0" indent="0" algn="l">
              <a:lnSpc>
                <a:spcPct val="128000"/>
              </a:lnSpc>
              <a:buNone/>
            </a:pPr>
            <a:r>
              <a:rPr lang="en-US" sz="1250" dirty="0">
                <a:solidFill>
                  <a:srgbClr val="334155"/>
                </a:solidFill>
                <a:latin typeface="Inter" pitchFamily="34" charset="0"/>
                <a:ea typeface="Inter" pitchFamily="34" charset="-122"/>
                <a:cs typeface="Inter" pitchFamily="34" charset="-120"/>
              </a:rPr>
              <a:t>In Power BI, we want this data to </a:t>
            </a:r>
            <a:r>
              <a:rPr lang="en-US" sz="1200" b="1" dirty="0">
                <a:solidFill>
                  <a:srgbClr val="334155"/>
                </a:solidFill>
                <a:latin typeface="Inter Bold" pitchFamily="34" charset="0"/>
                <a:ea typeface="Inter Bold" pitchFamily="34" charset="-122"/>
                <a:cs typeface="Inter Bold" pitchFamily="34" charset="-120"/>
              </a:rPr>
              <a:t>tell a story</a:t>
            </a:r>
            <a:r>
              <a:rPr lang="en-US" sz="1250" dirty="0">
                <a:solidFill>
                  <a:srgbClr val="334155"/>
                </a:solidFill>
                <a:latin typeface="Inter" pitchFamily="34" charset="0"/>
                <a:ea typeface="Inter" pitchFamily="34" charset="-122"/>
                <a:cs typeface="Inter" pitchFamily="34" charset="-120"/>
              </a:rPr>
              <a:t>. To do that, we need to organize it first.</a:t>
            </a:r>
            <a:endParaRPr lang="en-US" sz="1250" dirty="0"/>
          </a:p>
        </p:txBody>
      </p:sp>
      <p:sp>
        <p:nvSpPr>
          <p:cNvPr id="7" name="Shape 3"/>
          <p:cNvSpPr/>
          <p:nvPr/>
        </p:nvSpPr>
        <p:spPr>
          <a:xfrm>
            <a:off x="4714875" y="2092533"/>
            <a:ext cx="3857625" cy="714375"/>
          </a:xfrm>
          <a:prstGeom prst="roundRect">
            <a:avLst/>
          </a:prstGeom>
          <a:solidFill>
            <a:srgbClr val="FFFFFF"/>
          </a:solidFill>
          <a:ln/>
        </p:spPr>
        <p:txBody>
          <a:bodyPr/>
          <a:lstStyle/>
          <a:p>
            <a:endParaRPr lang="en-GB"/>
          </a:p>
        </p:txBody>
      </p:sp>
      <p:sp>
        <p:nvSpPr>
          <p:cNvPr id="8" name="Shape 4"/>
          <p:cNvSpPr/>
          <p:nvPr/>
        </p:nvSpPr>
        <p:spPr>
          <a:xfrm>
            <a:off x="5000625" y="2235408"/>
            <a:ext cx="428625" cy="428625"/>
          </a:xfrm>
          <a:prstGeom prst="ellipse">
            <a:avLst/>
          </a:prstGeom>
          <a:solidFill>
            <a:srgbClr val="10B981"/>
          </a:solidFill>
          <a:ln/>
        </p:spPr>
        <p:txBody>
          <a:bodyPr/>
          <a:lstStyle/>
          <a:p>
            <a:endParaRPr lang="en-GB"/>
          </a:p>
        </p:txBody>
      </p:sp>
      <p:pic>
        <p:nvPicPr>
          <p:cNvPr id="9" name="Image 1" descr="preencoded.png"/>
          <p:cNvPicPr>
            <a:picLocks noChangeAspect="1"/>
          </p:cNvPicPr>
          <p:nvPr/>
        </p:nvPicPr>
        <p:blipFill>
          <a:blip r:embed="rId4"/>
          <a:stretch>
            <a:fillRect/>
          </a:stretch>
        </p:blipFill>
        <p:spPr>
          <a:xfrm>
            <a:off x="5150644" y="2363995"/>
            <a:ext cx="128588" cy="171450"/>
          </a:xfrm>
          <a:prstGeom prst="rect">
            <a:avLst/>
          </a:prstGeom>
        </p:spPr>
      </p:pic>
      <p:sp>
        <p:nvSpPr>
          <p:cNvPr id="10" name="Text 5"/>
          <p:cNvSpPr/>
          <p:nvPr/>
        </p:nvSpPr>
        <p:spPr>
          <a:xfrm>
            <a:off x="5572125" y="2346136"/>
            <a:ext cx="1521619" cy="207169"/>
          </a:xfrm>
          <a:prstGeom prst="rect">
            <a:avLst/>
          </a:prstGeom>
          <a:noFill/>
          <a:ln/>
        </p:spPr>
        <p:txBody>
          <a:bodyPr wrap="square" lIns="0" tIns="0" rIns="0" bIns="0" rtlCol="0" anchor="t">
            <a:spAutoFit/>
          </a:bodyPr>
          <a:lstStyle/>
          <a:p>
            <a:pPr marL="0" indent="0" algn="l">
              <a:buNone/>
            </a:pPr>
            <a:r>
              <a:rPr lang="en-US" sz="1200" b="1" dirty="0">
                <a:solidFill>
                  <a:srgbClr val="1E293B"/>
                </a:solidFill>
                <a:latin typeface="Inter Bold" pitchFamily="34" charset="0"/>
                <a:ea typeface="Inter Bold" pitchFamily="34" charset="-122"/>
                <a:cs typeface="Inter Bold" pitchFamily="34" charset="-120"/>
              </a:rPr>
              <a:t>A Grocery Receipt</a:t>
            </a:r>
            <a:endParaRPr lang="en-US" sz="1200" dirty="0"/>
          </a:p>
        </p:txBody>
      </p:sp>
      <p:sp>
        <p:nvSpPr>
          <p:cNvPr id="11" name="Shape 6"/>
          <p:cNvSpPr/>
          <p:nvPr/>
        </p:nvSpPr>
        <p:spPr>
          <a:xfrm>
            <a:off x="4714875" y="2949783"/>
            <a:ext cx="3857625" cy="714375"/>
          </a:xfrm>
          <a:prstGeom prst="roundRect">
            <a:avLst/>
          </a:prstGeom>
          <a:solidFill>
            <a:srgbClr val="FFFFFF"/>
          </a:solidFill>
          <a:ln/>
        </p:spPr>
        <p:txBody>
          <a:bodyPr/>
          <a:lstStyle/>
          <a:p>
            <a:endParaRPr lang="en-GB"/>
          </a:p>
        </p:txBody>
      </p:sp>
      <p:sp>
        <p:nvSpPr>
          <p:cNvPr id="12" name="Shape 7"/>
          <p:cNvSpPr/>
          <p:nvPr/>
        </p:nvSpPr>
        <p:spPr>
          <a:xfrm>
            <a:off x="5000625" y="3092658"/>
            <a:ext cx="428625" cy="428625"/>
          </a:xfrm>
          <a:prstGeom prst="ellipse">
            <a:avLst/>
          </a:prstGeom>
          <a:solidFill>
            <a:srgbClr val="10B981"/>
          </a:solidFill>
          <a:ln/>
        </p:spPr>
        <p:txBody>
          <a:bodyPr/>
          <a:lstStyle/>
          <a:p>
            <a:endParaRPr lang="en-GB"/>
          </a:p>
        </p:txBody>
      </p:sp>
      <p:pic>
        <p:nvPicPr>
          <p:cNvPr id="13" name="Image 2" descr="preencoded.png"/>
          <p:cNvPicPr>
            <a:picLocks noChangeAspect="1"/>
          </p:cNvPicPr>
          <p:nvPr/>
        </p:nvPicPr>
        <p:blipFill>
          <a:blip r:embed="rId5"/>
          <a:stretch>
            <a:fillRect/>
          </a:stretch>
        </p:blipFill>
        <p:spPr>
          <a:xfrm>
            <a:off x="5107781" y="3221245"/>
            <a:ext cx="214313" cy="171450"/>
          </a:xfrm>
          <a:prstGeom prst="rect">
            <a:avLst/>
          </a:prstGeom>
        </p:spPr>
      </p:pic>
      <p:sp>
        <p:nvSpPr>
          <p:cNvPr id="14" name="Text 8"/>
          <p:cNvSpPr/>
          <p:nvPr/>
        </p:nvSpPr>
        <p:spPr>
          <a:xfrm>
            <a:off x="5572125" y="3203386"/>
            <a:ext cx="1175147" cy="207169"/>
          </a:xfrm>
          <a:prstGeom prst="rect">
            <a:avLst/>
          </a:prstGeom>
          <a:noFill/>
          <a:ln/>
        </p:spPr>
        <p:txBody>
          <a:bodyPr wrap="none" lIns="0" tIns="0" rIns="0" bIns="0" rtlCol="0" anchor="t">
            <a:spAutoFit/>
          </a:bodyPr>
          <a:lstStyle/>
          <a:p>
            <a:pPr marL="0" indent="0" algn="l">
              <a:buNone/>
            </a:pPr>
            <a:r>
              <a:rPr lang="en-US" sz="1200" b="1" dirty="0">
                <a:solidFill>
                  <a:srgbClr val="1E293B"/>
                </a:solidFill>
                <a:latin typeface="Inter Bold" pitchFamily="34" charset="0"/>
                <a:ea typeface="Inter Bold" pitchFamily="34" charset="-122"/>
                <a:cs typeface="Inter Bold" pitchFamily="34" charset="-120"/>
              </a:rPr>
              <a:t>A Student List</a:t>
            </a:r>
            <a:endParaRPr lang="en-US" sz="1200" dirty="0"/>
          </a:p>
        </p:txBody>
      </p:sp>
      <p:sp>
        <p:nvSpPr>
          <p:cNvPr id="15" name="Shape 9"/>
          <p:cNvSpPr/>
          <p:nvPr/>
        </p:nvSpPr>
        <p:spPr>
          <a:xfrm>
            <a:off x="4714875" y="3807033"/>
            <a:ext cx="3857625" cy="714375"/>
          </a:xfrm>
          <a:prstGeom prst="roundRect">
            <a:avLst/>
          </a:prstGeom>
          <a:solidFill>
            <a:srgbClr val="FFFFFF"/>
          </a:solidFill>
          <a:ln/>
        </p:spPr>
        <p:txBody>
          <a:bodyPr/>
          <a:lstStyle/>
          <a:p>
            <a:endParaRPr lang="en-GB"/>
          </a:p>
        </p:txBody>
      </p:sp>
      <p:sp>
        <p:nvSpPr>
          <p:cNvPr id="16" name="Shape 10"/>
          <p:cNvSpPr/>
          <p:nvPr/>
        </p:nvSpPr>
        <p:spPr>
          <a:xfrm>
            <a:off x="5000625" y="3949908"/>
            <a:ext cx="428625" cy="428625"/>
          </a:xfrm>
          <a:prstGeom prst="ellipse">
            <a:avLst/>
          </a:prstGeom>
          <a:solidFill>
            <a:srgbClr val="10B981"/>
          </a:solidFill>
          <a:ln/>
        </p:spPr>
        <p:txBody>
          <a:bodyPr/>
          <a:lstStyle/>
          <a:p>
            <a:endParaRPr lang="en-GB"/>
          </a:p>
        </p:txBody>
      </p:sp>
      <p:pic>
        <p:nvPicPr>
          <p:cNvPr id="17" name="Image 3" descr="preencoded.png"/>
          <p:cNvPicPr>
            <a:picLocks noChangeAspect="1"/>
          </p:cNvPicPr>
          <p:nvPr/>
        </p:nvPicPr>
        <p:blipFill>
          <a:blip r:embed="rId6"/>
          <a:stretch>
            <a:fillRect/>
          </a:stretch>
        </p:blipFill>
        <p:spPr>
          <a:xfrm>
            <a:off x="5107781" y="4078495"/>
            <a:ext cx="214313" cy="171450"/>
          </a:xfrm>
          <a:prstGeom prst="rect">
            <a:avLst/>
          </a:prstGeom>
        </p:spPr>
      </p:pic>
      <p:sp>
        <p:nvSpPr>
          <p:cNvPr id="18" name="Text 11"/>
          <p:cNvSpPr/>
          <p:nvPr/>
        </p:nvSpPr>
        <p:spPr>
          <a:xfrm>
            <a:off x="5572125" y="4060636"/>
            <a:ext cx="1487686" cy="207169"/>
          </a:xfrm>
          <a:prstGeom prst="rect">
            <a:avLst/>
          </a:prstGeom>
          <a:noFill/>
          <a:ln/>
        </p:spPr>
        <p:txBody>
          <a:bodyPr wrap="square" lIns="0" tIns="0" rIns="0" bIns="0" rtlCol="0" anchor="t">
            <a:spAutoFit/>
          </a:bodyPr>
          <a:lstStyle/>
          <a:p>
            <a:pPr marL="0" indent="0" algn="l">
              <a:buNone/>
            </a:pPr>
            <a:r>
              <a:rPr lang="en-US" sz="1200" b="1" dirty="0">
                <a:solidFill>
                  <a:srgbClr val="1E293B"/>
                </a:solidFill>
                <a:latin typeface="Inter Bold" pitchFamily="34" charset="0"/>
                <a:ea typeface="Inter Bold" pitchFamily="34" charset="-122"/>
                <a:cs typeface="Inter Bold" pitchFamily="34" charset="-120"/>
              </a:rPr>
              <a:t>A Weather Report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7144"/>
            <a:ext cx="9144000" cy="5143500"/>
          </a:xfrm>
          <a:prstGeom prst="rect">
            <a:avLst/>
          </a:prstGeom>
        </p:spPr>
      </p:pic>
      <p:sp>
        <p:nvSpPr>
          <p:cNvPr id="4" name="Text 0"/>
          <p:cNvSpPr/>
          <p:nvPr/>
        </p:nvSpPr>
        <p:spPr>
          <a:xfrm>
            <a:off x="428625" y="563212"/>
            <a:ext cx="8715375" cy="414338"/>
          </a:xfrm>
          <a:prstGeom prst="rect">
            <a:avLst/>
          </a:prstGeom>
          <a:noFill/>
          <a:ln/>
        </p:spPr>
        <p:txBody>
          <a:bodyPr wrap="square" lIns="0" tIns="0" rIns="0" bIns="0" rtlCol="0" anchor="t">
            <a:spAutoFit/>
          </a:bodyPr>
          <a:lstStyle/>
          <a:p>
            <a:pPr marL="0" indent="0" algn="l">
              <a:buNone/>
            </a:pPr>
            <a:r>
              <a:rPr lang="en-US" sz="2450" b="1" dirty="0">
                <a:solidFill>
                  <a:srgbClr val="1E293B"/>
                </a:solidFill>
                <a:latin typeface="Inter Bold" pitchFamily="34" charset="0"/>
                <a:ea typeface="Inter Bold" pitchFamily="34" charset="-122"/>
                <a:cs typeface="Inter Bold" pitchFamily="34" charset="-120"/>
              </a:rPr>
              <a:t>The "Flat File" Nightmare</a:t>
            </a:r>
            <a:endParaRPr lang="en-US" sz="2450" dirty="0"/>
          </a:p>
        </p:txBody>
      </p:sp>
      <p:sp>
        <p:nvSpPr>
          <p:cNvPr id="5" name="Shape 1"/>
          <p:cNvSpPr/>
          <p:nvPr/>
        </p:nvSpPr>
        <p:spPr>
          <a:xfrm>
            <a:off x="428625" y="1191862"/>
            <a:ext cx="8286750" cy="2260997"/>
          </a:xfrm>
          <a:prstGeom prst="rect">
            <a:avLst/>
          </a:prstGeom>
          <a:solidFill>
            <a:srgbClr val="FFFFFF"/>
          </a:solidFill>
          <a:ln/>
        </p:spPr>
        <p:txBody>
          <a:bodyPr/>
          <a:lstStyle/>
          <a:p>
            <a:endParaRPr lang="en-GB"/>
          </a:p>
        </p:txBody>
      </p:sp>
      <p:sp>
        <p:nvSpPr>
          <p:cNvPr id="6" name="Shape 2"/>
          <p:cNvSpPr/>
          <p:nvPr/>
        </p:nvSpPr>
        <p:spPr>
          <a:xfrm>
            <a:off x="428625" y="1191862"/>
            <a:ext cx="1176933" cy="373261"/>
          </a:xfrm>
          <a:prstGeom prst="rect">
            <a:avLst/>
          </a:prstGeom>
          <a:solidFill>
            <a:srgbClr val="F1F5F9"/>
          </a:solidFill>
          <a:ln/>
        </p:spPr>
        <p:txBody>
          <a:bodyPr/>
          <a:lstStyle/>
          <a:p>
            <a:endParaRPr lang="en-GB"/>
          </a:p>
        </p:txBody>
      </p:sp>
      <p:sp>
        <p:nvSpPr>
          <p:cNvPr id="7" name="Shape 3"/>
          <p:cNvSpPr/>
          <p:nvPr/>
        </p:nvSpPr>
        <p:spPr>
          <a:xfrm>
            <a:off x="428625" y="1557979"/>
            <a:ext cx="1176933" cy="7144"/>
          </a:xfrm>
          <a:prstGeom prst="rect">
            <a:avLst/>
          </a:prstGeom>
          <a:solidFill>
            <a:srgbClr val="E2E8F0"/>
          </a:solidFill>
          <a:ln/>
        </p:spPr>
        <p:txBody>
          <a:bodyPr/>
          <a:lstStyle/>
          <a:p>
            <a:endParaRPr lang="en-GB"/>
          </a:p>
        </p:txBody>
      </p:sp>
      <p:sp>
        <p:nvSpPr>
          <p:cNvPr id="8" name="Text 4"/>
          <p:cNvSpPr/>
          <p:nvPr/>
        </p:nvSpPr>
        <p:spPr>
          <a:xfrm>
            <a:off x="428625" y="1191862"/>
            <a:ext cx="1176933" cy="373261"/>
          </a:xfrm>
          <a:prstGeom prst="rect">
            <a:avLst/>
          </a:prstGeom>
          <a:noFill/>
          <a:ln/>
        </p:spPr>
        <p:txBody>
          <a:bodyPr wrap="none" lIns="127508" tIns="127508" rIns="127508" bIns="127508" rtlCol="0" anchor="ctr">
            <a:spAutoFit/>
          </a:bodyPr>
          <a:lstStyle/>
          <a:p>
            <a:pPr marL="0" indent="0" algn="l">
              <a:buNone/>
            </a:pPr>
            <a:r>
              <a:rPr lang="en-US" sz="900" b="1" dirty="0">
                <a:solidFill>
                  <a:srgbClr val="475569"/>
                </a:solidFill>
                <a:latin typeface="Inter Bold" pitchFamily="34" charset="0"/>
                <a:ea typeface="Inter Bold" pitchFamily="34" charset="-122"/>
                <a:cs typeface="Inter Bold" pitchFamily="34" charset="-120"/>
              </a:rPr>
              <a:t>OrderID</a:t>
            </a:r>
            <a:endParaRPr lang="en-US" sz="900" dirty="0"/>
          </a:p>
        </p:txBody>
      </p:sp>
      <p:sp>
        <p:nvSpPr>
          <p:cNvPr id="9" name="Shape 5"/>
          <p:cNvSpPr/>
          <p:nvPr/>
        </p:nvSpPr>
        <p:spPr>
          <a:xfrm>
            <a:off x="1605558" y="1191862"/>
            <a:ext cx="2017635" cy="373261"/>
          </a:xfrm>
          <a:prstGeom prst="rect">
            <a:avLst/>
          </a:prstGeom>
          <a:solidFill>
            <a:srgbClr val="F1F5F9"/>
          </a:solidFill>
          <a:ln/>
        </p:spPr>
        <p:txBody>
          <a:bodyPr/>
          <a:lstStyle/>
          <a:p>
            <a:endParaRPr lang="en-GB"/>
          </a:p>
        </p:txBody>
      </p:sp>
      <p:sp>
        <p:nvSpPr>
          <p:cNvPr id="10" name="Shape 6"/>
          <p:cNvSpPr/>
          <p:nvPr/>
        </p:nvSpPr>
        <p:spPr>
          <a:xfrm>
            <a:off x="1605558" y="1557979"/>
            <a:ext cx="2017635" cy="7144"/>
          </a:xfrm>
          <a:prstGeom prst="rect">
            <a:avLst/>
          </a:prstGeom>
          <a:solidFill>
            <a:srgbClr val="E2E8F0"/>
          </a:solidFill>
          <a:ln/>
        </p:spPr>
        <p:txBody>
          <a:bodyPr/>
          <a:lstStyle/>
          <a:p>
            <a:endParaRPr lang="en-GB"/>
          </a:p>
        </p:txBody>
      </p:sp>
      <p:sp>
        <p:nvSpPr>
          <p:cNvPr id="11" name="Text 7"/>
          <p:cNvSpPr/>
          <p:nvPr/>
        </p:nvSpPr>
        <p:spPr>
          <a:xfrm>
            <a:off x="1605558" y="1191862"/>
            <a:ext cx="2017635" cy="373261"/>
          </a:xfrm>
          <a:prstGeom prst="rect">
            <a:avLst/>
          </a:prstGeom>
          <a:noFill/>
          <a:ln/>
        </p:spPr>
        <p:txBody>
          <a:bodyPr wrap="square" lIns="127508" tIns="127508" rIns="127508" bIns="127508" rtlCol="0" anchor="ctr">
            <a:spAutoFit/>
          </a:bodyPr>
          <a:lstStyle/>
          <a:p>
            <a:pPr marL="0" indent="0" algn="l">
              <a:buNone/>
            </a:pPr>
            <a:r>
              <a:rPr lang="en-US" sz="900" b="1" dirty="0">
                <a:solidFill>
                  <a:srgbClr val="475569"/>
                </a:solidFill>
                <a:latin typeface="Inter Bold" pitchFamily="34" charset="0"/>
                <a:ea typeface="Inter Bold" pitchFamily="34" charset="-122"/>
                <a:cs typeface="Inter Bold" pitchFamily="34" charset="-120"/>
              </a:rPr>
              <a:t>CustomerName</a:t>
            </a:r>
            <a:endParaRPr lang="en-US" sz="900" dirty="0"/>
          </a:p>
        </p:txBody>
      </p:sp>
      <p:sp>
        <p:nvSpPr>
          <p:cNvPr id="12" name="Shape 8"/>
          <p:cNvSpPr/>
          <p:nvPr/>
        </p:nvSpPr>
        <p:spPr>
          <a:xfrm>
            <a:off x="3623193" y="1191862"/>
            <a:ext cx="2296855" cy="373261"/>
          </a:xfrm>
          <a:prstGeom prst="rect">
            <a:avLst/>
          </a:prstGeom>
          <a:solidFill>
            <a:srgbClr val="F1F5F9"/>
          </a:solidFill>
          <a:ln/>
        </p:spPr>
        <p:txBody>
          <a:bodyPr/>
          <a:lstStyle/>
          <a:p>
            <a:endParaRPr lang="en-GB"/>
          </a:p>
        </p:txBody>
      </p:sp>
      <p:sp>
        <p:nvSpPr>
          <p:cNvPr id="13" name="Shape 9"/>
          <p:cNvSpPr/>
          <p:nvPr/>
        </p:nvSpPr>
        <p:spPr>
          <a:xfrm>
            <a:off x="3623193" y="1557979"/>
            <a:ext cx="2296855" cy="7144"/>
          </a:xfrm>
          <a:prstGeom prst="rect">
            <a:avLst/>
          </a:prstGeom>
          <a:solidFill>
            <a:srgbClr val="E2E8F0"/>
          </a:solidFill>
          <a:ln/>
        </p:spPr>
        <p:txBody>
          <a:bodyPr/>
          <a:lstStyle/>
          <a:p>
            <a:endParaRPr lang="en-GB"/>
          </a:p>
        </p:txBody>
      </p:sp>
      <p:sp>
        <p:nvSpPr>
          <p:cNvPr id="14" name="Text 10"/>
          <p:cNvSpPr/>
          <p:nvPr/>
        </p:nvSpPr>
        <p:spPr>
          <a:xfrm>
            <a:off x="3623193" y="1191862"/>
            <a:ext cx="2296855" cy="373261"/>
          </a:xfrm>
          <a:prstGeom prst="rect">
            <a:avLst/>
          </a:prstGeom>
          <a:noFill/>
          <a:ln/>
        </p:spPr>
        <p:txBody>
          <a:bodyPr wrap="square" lIns="127508" tIns="127508" rIns="127508" bIns="127508" rtlCol="0" anchor="ctr">
            <a:spAutoFit/>
          </a:bodyPr>
          <a:lstStyle/>
          <a:p>
            <a:pPr marL="0" indent="0" algn="l">
              <a:buNone/>
            </a:pPr>
            <a:r>
              <a:rPr lang="en-US" sz="900" b="1" dirty="0">
                <a:solidFill>
                  <a:srgbClr val="475569"/>
                </a:solidFill>
                <a:latin typeface="Inter Bold" pitchFamily="34" charset="0"/>
                <a:ea typeface="Inter Bold" pitchFamily="34" charset="-122"/>
                <a:cs typeface="Inter Bold" pitchFamily="34" charset="-120"/>
              </a:rPr>
              <a:t>CustomerEmail</a:t>
            </a:r>
            <a:endParaRPr lang="en-US" sz="900" dirty="0"/>
          </a:p>
        </p:txBody>
      </p:sp>
      <p:sp>
        <p:nvSpPr>
          <p:cNvPr id="15" name="Shape 11"/>
          <p:cNvSpPr/>
          <p:nvPr/>
        </p:nvSpPr>
        <p:spPr>
          <a:xfrm>
            <a:off x="5920048" y="1191862"/>
            <a:ext cx="1807452" cy="373261"/>
          </a:xfrm>
          <a:prstGeom prst="rect">
            <a:avLst/>
          </a:prstGeom>
          <a:solidFill>
            <a:srgbClr val="F1F5F9"/>
          </a:solidFill>
          <a:ln/>
        </p:spPr>
        <p:txBody>
          <a:bodyPr/>
          <a:lstStyle/>
          <a:p>
            <a:endParaRPr lang="en-GB"/>
          </a:p>
        </p:txBody>
      </p:sp>
      <p:sp>
        <p:nvSpPr>
          <p:cNvPr id="16" name="Shape 12"/>
          <p:cNvSpPr/>
          <p:nvPr/>
        </p:nvSpPr>
        <p:spPr>
          <a:xfrm>
            <a:off x="5920048" y="1557979"/>
            <a:ext cx="1807452" cy="7144"/>
          </a:xfrm>
          <a:prstGeom prst="rect">
            <a:avLst/>
          </a:prstGeom>
          <a:solidFill>
            <a:srgbClr val="E2E8F0"/>
          </a:solidFill>
          <a:ln/>
        </p:spPr>
        <p:txBody>
          <a:bodyPr/>
          <a:lstStyle/>
          <a:p>
            <a:endParaRPr lang="en-GB"/>
          </a:p>
        </p:txBody>
      </p:sp>
      <p:sp>
        <p:nvSpPr>
          <p:cNvPr id="17" name="Text 13"/>
          <p:cNvSpPr/>
          <p:nvPr/>
        </p:nvSpPr>
        <p:spPr>
          <a:xfrm>
            <a:off x="5920048" y="1191862"/>
            <a:ext cx="1807452" cy="373261"/>
          </a:xfrm>
          <a:prstGeom prst="rect">
            <a:avLst/>
          </a:prstGeom>
          <a:noFill/>
          <a:ln/>
        </p:spPr>
        <p:txBody>
          <a:bodyPr wrap="square" lIns="127508" tIns="127508" rIns="127508" bIns="127508" rtlCol="0" anchor="ctr">
            <a:spAutoFit/>
          </a:bodyPr>
          <a:lstStyle/>
          <a:p>
            <a:pPr marL="0" indent="0" algn="l">
              <a:buNone/>
            </a:pPr>
            <a:r>
              <a:rPr lang="en-US" sz="900" b="1" dirty="0">
                <a:solidFill>
                  <a:srgbClr val="475569"/>
                </a:solidFill>
                <a:latin typeface="Inter Bold" pitchFamily="34" charset="0"/>
                <a:ea typeface="Inter Bold" pitchFamily="34" charset="-122"/>
                <a:cs typeface="Inter Bold" pitchFamily="34" charset="-120"/>
              </a:rPr>
              <a:t>ProductName</a:t>
            </a:r>
            <a:endParaRPr lang="en-US" sz="900" dirty="0"/>
          </a:p>
        </p:txBody>
      </p:sp>
      <p:sp>
        <p:nvSpPr>
          <p:cNvPr id="18" name="Shape 14"/>
          <p:cNvSpPr/>
          <p:nvPr/>
        </p:nvSpPr>
        <p:spPr>
          <a:xfrm>
            <a:off x="7727500" y="1191862"/>
            <a:ext cx="987875" cy="373261"/>
          </a:xfrm>
          <a:prstGeom prst="rect">
            <a:avLst/>
          </a:prstGeom>
          <a:solidFill>
            <a:srgbClr val="F1F5F9"/>
          </a:solidFill>
          <a:ln/>
        </p:spPr>
        <p:txBody>
          <a:bodyPr/>
          <a:lstStyle/>
          <a:p>
            <a:endParaRPr lang="en-GB"/>
          </a:p>
        </p:txBody>
      </p:sp>
      <p:sp>
        <p:nvSpPr>
          <p:cNvPr id="19" name="Shape 15"/>
          <p:cNvSpPr/>
          <p:nvPr/>
        </p:nvSpPr>
        <p:spPr>
          <a:xfrm>
            <a:off x="7727500" y="1557979"/>
            <a:ext cx="987875" cy="7144"/>
          </a:xfrm>
          <a:prstGeom prst="rect">
            <a:avLst/>
          </a:prstGeom>
          <a:solidFill>
            <a:srgbClr val="E2E8F0"/>
          </a:solidFill>
          <a:ln/>
        </p:spPr>
        <p:txBody>
          <a:bodyPr/>
          <a:lstStyle/>
          <a:p>
            <a:endParaRPr lang="en-GB"/>
          </a:p>
        </p:txBody>
      </p:sp>
      <p:sp>
        <p:nvSpPr>
          <p:cNvPr id="20" name="Text 16"/>
          <p:cNvSpPr/>
          <p:nvPr/>
        </p:nvSpPr>
        <p:spPr>
          <a:xfrm>
            <a:off x="7727500" y="1191862"/>
            <a:ext cx="987875" cy="373261"/>
          </a:xfrm>
          <a:prstGeom prst="rect">
            <a:avLst/>
          </a:prstGeom>
          <a:noFill/>
          <a:ln/>
        </p:spPr>
        <p:txBody>
          <a:bodyPr wrap="none" lIns="127508" tIns="127508" rIns="127508" bIns="127508" rtlCol="0" anchor="ctr">
            <a:spAutoFit/>
          </a:bodyPr>
          <a:lstStyle/>
          <a:p>
            <a:pPr marL="0" indent="0" algn="l">
              <a:buNone/>
            </a:pPr>
            <a:r>
              <a:rPr lang="en-US" sz="900" b="1" dirty="0">
                <a:solidFill>
                  <a:srgbClr val="475569"/>
                </a:solidFill>
                <a:latin typeface="Inter Bold" pitchFamily="34" charset="0"/>
                <a:ea typeface="Inter Bold" pitchFamily="34" charset="-122"/>
                <a:cs typeface="Inter Bold" pitchFamily="34" charset="-120"/>
              </a:rPr>
              <a:t>Price</a:t>
            </a:r>
            <a:endParaRPr lang="en-US" sz="900" dirty="0"/>
          </a:p>
        </p:txBody>
      </p:sp>
      <p:sp>
        <p:nvSpPr>
          <p:cNvPr id="21" name="Text 17"/>
          <p:cNvSpPr/>
          <p:nvPr/>
        </p:nvSpPr>
        <p:spPr>
          <a:xfrm>
            <a:off x="428625" y="1561551"/>
            <a:ext cx="1176933" cy="373261"/>
          </a:xfrm>
          <a:prstGeom prst="rect">
            <a:avLst/>
          </a:prstGeom>
          <a:noFill/>
          <a:ln/>
        </p:spPr>
        <p:txBody>
          <a:bodyPr wrap="none" lIns="127508" tIns="127508" rIns="127508" bIns="127508" rtlCol="0" anchor="ctr">
            <a:spAutoFit/>
          </a:bodyPr>
          <a:lstStyle/>
          <a:p>
            <a:pPr marL="0" indent="0" algn="l">
              <a:buNone/>
            </a:pPr>
            <a:r>
              <a:rPr lang="en-US" sz="950" dirty="0">
                <a:solidFill>
                  <a:srgbClr val="334155"/>
                </a:solidFill>
                <a:latin typeface="Inter" pitchFamily="34" charset="0"/>
                <a:ea typeface="Inter" pitchFamily="34" charset="-122"/>
                <a:cs typeface="Inter" pitchFamily="34" charset="-120"/>
              </a:rPr>
              <a:t>101</a:t>
            </a:r>
            <a:endParaRPr lang="en-US" sz="950" dirty="0"/>
          </a:p>
        </p:txBody>
      </p:sp>
      <p:sp>
        <p:nvSpPr>
          <p:cNvPr id="22" name="Shape 18"/>
          <p:cNvSpPr/>
          <p:nvPr/>
        </p:nvSpPr>
        <p:spPr>
          <a:xfrm>
            <a:off x="1605558" y="1561551"/>
            <a:ext cx="2017635" cy="373261"/>
          </a:xfrm>
          <a:prstGeom prst="rect">
            <a:avLst/>
          </a:prstGeom>
          <a:solidFill>
            <a:srgbClr val="FEE2E2"/>
          </a:solidFill>
          <a:ln/>
        </p:spPr>
        <p:txBody>
          <a:bodyPr/>
          <a:lstStyle/>
          <a:p>
            <a:endParaRPr lang="en-GB"/>
          </a:p>
        </p:txBody>
      </p:sp>
      <p:sp>
        <p:nvSpPr>
          <p:cNvPr id="23" name="Shape 19"/>
          <p:cNvSpPr/>
          <p:nvPr/>
        </p:nvSpPr>
        <p:spPr>
          <a:xfrm>
            <a:off x="1605558" y="1927668"/>
            <a:ext cx="2017635" cy="7144"/>
          </a:xfrm>
          <a:prstGeom prst="rect">
            <a:avLst/>
          </a:prstGeom>
          <a:solidFill>
            <a:srgbClr val="E2E8F0"/>
          </a:solidFill>
          <a:ln/>
        </p:spPr>
        <p:txBody>
          <a:bodyPr/>
          <a:lstStyle/>
          <a:p>
            <a:endParaRPr lang="en-GB"/>
          </a:p>
        </p:txBody>
      </p:sp>
      <p:sp>
        <p:nvSpPr>
          <p:cNvPr id="24" name="Text 20"/>
          <p:cNvSpPr/>
          <p:nvPr/>
        </p:nvSpPr>
        <p:spPr>
          <a:xfrm>
            <a:off x="1605558" y="1561551"/>
            <a:ext cx="2017635" cy="373261"/>
          </a:xfrm>
          <a:prstGeom prst="rect">
            <a:avLst/>
          </a:prstGeom>
          <a:noFill/>
          <a:ln/>
        </p:spPr>
        <p:txBody>
          <a:bodyPr wrap="square" lIns="127508" tIns="127508" rIns="127508" bIns="127508" rtlCol="0" anchor="ctr">
            <a:spAutoFit/>
          </a:bodyPr>
          <a:lstStyle/>
          <a:p>
            <a:pPr marL="0" indent="0" algn="l">
              <a:buNone/>
            </a:pPr>
            <a:r>
              <a:rPr lang="en-US" sz="900" b="1" dirty="0">
                <a:solidFill>
                  <a:srgbClr val="B91C1C"/>
                </a:solidFill>
                <a:latin typeface="Inter Bold" pitchFamily="34" charset="0"/>
                <a:ea typeface="Inter Bold" pitchFamily="34" charset="-122"/>
                <a:cs typeface="Inter Bold" pitchFamily="34" charset="-120"/>
              </a:rPr>
              <a:t>Alice Smith</a:t>
            </a:r>
            <a:endParaRPr lang="en-US" sz="900" dirty="0"/>
          </a:p>
        </p:txBody>
      </p:sp>
      <p:sp>
        <p:nvSpPr>
          <p:cNvPr id="25" name="Shape 21"/>
          <p:cNvSpPr/>
          <p:nvPr/>
        </p:nvSpPr>
        <p:spPr>
          <a:xfrm>
            <a:off x="3623193" y="1561551"/>
            <a:ext cx="2296855" cy="373261"/>
          </a:xfrm>
          <a:prstGeom prst="rect">
            <a:avLst/>
          </a:prstGeom>
          <a:solidFill>
            <a:srgbClr val="FEE2E2"/>
          </a:solidFill>
          <a:ln/>
        </p:spPr>
        <p:txBody>
          <a:bodyPr/>
          <a:lstStyle/>
          <a:p>
            <a:endParaRPr lang="en-GB"/>
          </a:p>
        </p:txBody>
      </p:sp>
      <p:sp>
        <p:nvSpPr>
          <p:cNvPr id="26" name="Shape 22"/>
          <p:cNvSpPr/>
          <p:nvPr/>
        </p:nvSpPr>
        <p:spPr>
          <a:xfrm>
            <a:off x="3623193" y="1927668"/>
            <a:ext cx="2296855" cy="7144"/>
          </a:xfrm>
          <a:prstGeom prst="rect">
            <a:avLst/>
          </a:prstGeom>
          <a:solidFill>
            <a:srgbClr val="E2E8F0"/>
          </a:solidFill>
          <a:ln/>
        </p:spPr>
        <p:txBody>
          <a:bodyPr/>
          <a:lstStyle/>
          <a:p>
            <a:endParaRPr lang="en-GB"/>
          </a:p>
        </p:txBody>
      </p:sp>
      <p:sp>
        <p:nvSpPr>
          <p:cNvPr id="27" name="Text 23"/>
          <p:cNvSpPr/>
          <p:nvPr/>
        </p:nvSpPr>
        <p:spPr>
          <a:xfrm>
            <a:off x="3623193" y="1561551"/>
            <a:ext cx="2296855" cy="373261"/>
          </a:xfrm>
          <a:prstGeom prst="rect">
            <a:avLst/>
          </a:prstGeom>
          <a:noFill/>
          <a:ln/>
        </p:spPr>
        <p:txBody>
          <a:bodyPr wrap="square" lIns="127508" tIns="127508" rIns="127508" bIns="127508" rtlCol="0" anchor="ctr">
            <a:spAutoFit/>
          </a:bodyPr>
          <a:lstStyle/>
          <a:p>
            <a:pPr marL="0" indent="0" algn="l">
              <a:buNone/>
            </a:pPr>
            <a:r>
              <a:rPr lang="en-US" sz="900" b="1" dirty="0">
                <a:solidFill>
                  <a:srgbClr val="B91C1C"/>
                </a:solidFill>
                <a:latin typeface="Inter Bold" pitchFamily="34" charset="0"/>
                <a:ea typeface="Inter Bold" pitchFamily="34" charset="-122"/>
                <a:cs typeface="Inter Bold" pitchFamily="34" charset="-120"/>
              </a:rPr>
              <a:t>alice@email.com</a:t>
            </a:r>
            <a:endParaRPr lang="en-US" sz="900" dirty="0"/>
          </a:p>
        </p:txBody>
      </p:sp>
      <p:sp>
        <p:nvSpPr>
          <p:cNvPr id="28" name="Text 24"/>
          <p:cNvSpPr/>
          <p:nvPr/>
        </p:nvSpPr>
        <p:spPr>
          <a:xfrm>
            <a:off x="5920048" y="1561551"/>
            <a:ext cx="1807452" cy="373261"/>
          </a:xfrm>
          <a:prstGeom prst="rect">
            <a:avLst/>
          </a:prstGeom>
          <a:noFill/>
          <a:ln/>
        </p:spPr>
        <p:txBody>
          <a:bodyPr wrap="square" lIns="127508" tIns="127508" rIns="127508" bIns="127508" rtlCol="0" anchor="ctr">
            <a:spAutoFit/>
          </a:bodyPr>
          <a:lstStyle/>
          <a:p>
            <a:pPr marL="0" indent="0" algn="l">
              <a:buNone/>
            </a:pPr>
            <a:r>
              <a:rPr lang="en-US" sz="950" dirty="0">
                <a:solidFill>
                  <a:srgbClr val="334155"/>
                </a:solidFill>
                <a:latin typeface="Inter" pitchFamily="34" charset="0"/>
                <a:ea typeface="Inter" pitchFamily="34" charset="-122"/>
                <a:cs typeface="Inter" pitchFamily="34" charset="-120"/>
              </a:rPr>
              <a:t>Laptop</a:t>
            </a:r>
            <a:endParaRPr lang="en-US" sz="950" dirty="0"/>
          </a:p>
        </p:txBody>
      </p:sp>
      <p:sp>
        <p:nvSpPr>
          <p:cNvPr id="29" name="Text 25"/>
          <p:cNvSpPr/>
          <p:nvPr/>
        </p:nvSpPr>
        <p:spPr>
          <a:xfrm>
            <a:off x="7727500" y="1561551"/>
            <a:ext cx="987875" cy="373261"/>
          </a:xfrm>
          <a:prstGeom prst="rect">
            <a:avLst/>
          </a:prstGeom>
          <a:noFill/>
          <a:ln/>
        </p:spPr>
        <p:txBody>
          <a:bodyPr wrap="none" lIns="127508" tIns="127508" rIns="127508" bIns="127508" rtlCol="0" anchor="ctr">
            <a:spAutoFit/>
          </a:bodyPr>
          <a:lstStyle/>
          <a:p>
            <a:pPr marL="0" indent="0" algn="l">
              <a:buNone/>
            </a:pPr>
            <a:r>
              <a:rPr lang="en-US" sz="950" dirty="0">
                <a:solidFill>
                  <a:srgbClr val="334155"/>
                </a:solidFill>
                <a:latin typeface="Inter" pitchFamily="34" charset="0"/>
                <a:ea typeface="Inter" pitchFamily="34" charset="-122"/>
                <a:cs typeface="Inter" pitchFamily="34" charset="-120"/>
              </a:rPr>
              <a:t>$1200</a:t>
            </a:r>
            <a:endParaRPr lang="en-US" sz="950" dirty="0"/>
          </a:p>
        </p:txBody>
      </p:sp>
      <p:sp>
        <p:nvSpPr>
          <p:cNvPr id="30" name="Text 26"/>
          <p:cNvSpPr/>
          <p:nvPr/>
        </p:nvSpPr>
        <p:spPr>
          <a:xfrm>
            <a:off x="428625" y="1934812"/>
            <a:ext cx="1176933" cy="376833"/>
          </a:xfrm>
          <a:prstGeom prst="rect">
            <a:avLst/>
          </a:prstGeom>
          <a:noFill/>
          <a:ln/>
        </p:spPr>
        <p:txBody>
          <a:bodyPr wrap="none" lIns="127508" tIns="127508" rIns="127508" bIns="127508" rtlCol="0" anchor="ctr">
            <a:spAutoFit/>
          </a:bodyPr>
          <a:lstStyle/>
          <a:p>
            <a:pPr marL="0" indent="0" algn="l">
              <a:buNone/>
            </a:pPr>
            <a:r>
              <a:rPr lang="en-US" sz="950" dirty="0">
                <a:solidFill>
                  <a:srgbClr val="334155"/>
                </a:solidFill>
                <a:latin typeface="Inter" pitchFamily="34" charset="0"/>
                <a:ea typeface="Inter" pitchFamily="34" charset="-122"/>
                <a:cs typeface="Inter" pitchFamily="34" charset="-120"/>
              </a:rPr>
              <a:t>102</a:t>
            </a:r>
            <a:endParaRPr lang="en-US" sz="950" dirty="0"/>
          </a:p>
        </p:txBody>
      </p:sp>
      <p:sp>
        <p:nvSpPr>
          <p:cNvPr id="31" name="Text 27"/>
          <p:cNvSpPr/>
          <p:nvPr/>
        </p:nvSpPr>
        <p:spPr>
          <a:xfrm>
            <a:off x="1605558" y="1934812"/>
            <a:ext cx="2017635" cy="376833"/>
          </a:xfrm>
          <a:prstGeom prst="rect">
            <a:avLst/>
          </a:prstGeom>
          <a:noFill/>
          <a:ln/>
        </p:spPr>
        <p:txBody>
          <a:bodyPr wrap="square" lIns="127508" tIns="127508" rIns="127508" bIns="127508" rtlCol="0" anchor="ctr">
            <a:spAutoFit/>
          </a:bodyPr>
          <a:lstStyle/>
          <a:p>
            <a:pPr marL="0" indent="0" algn="l">
              <a:buNone/>
            </a:pPr>
            <a:r>
              <a:rPr lang="en-US" sz="950" dirty="0">
                <a:solidFill>
                  <a:srgbClr val="334155"/>
                </a:solidFill>
                <a:latin typeface="Inter" pitchFamily="34" charset="0"/>
                <a:ea typeface="Inter" pitchFamily="34" charset="-122"/>
                <a:cs typeface="Inter" pitchFamily="34" charset="-120"/>
              </a:rPr>
              <a:t>Bob Jones</a:t>
            </a:r>
            <a:endParaRPr lang="en-US" sz="950" dirty="0"/>
          </a:p>
        </p:txBody>
      </p:sp>
      <p:sp>
        <p:nvSpPr>
          <p:cNvPr id="32" name="Text 28"/>
          <p:cNvSpPr/>
          <p:nvPr/>
        </p:nvSpPr>
        <p:spPr>
          <a:xfrm>
            <a:off x="3623193" y="1934812"/>
            <a:ext cx="2296855" cy="376833"/>
          </a:xfrm>
          <a:prstGeom prst="rect">
            <a:avLst/>
          </a:prstGeom>
          <a:noFill/>
          <a:ln/>
        </p:spPr>
        <p:txBody>
          <a:bodyPr wrap="square" lIns="127508" tIns="127508" rIns="127508" bIns="127508" rtlCol="0" anchor="ctr">
            <a:spAutoFit/>
          </a:bodyPr>
          <a:lstStyle/>
          <a:p>
            <a:pPr marL="0" indent="0" algn="l">
              <a:buNone/>
            </a:pPr>
            <a:r>
              <a:rPr lang="en-US" sz="950" dirty="0">
                <a:solidFill>
                  <a:srgbClr val="334155"/>
                </a:solidFill>
                <a:latin typeface="Inter" pitchFamily="34" charset="0"/>
                <a:ea typeface="Inter" pitchFamily="34" charset="-122"/>
                <a:cs typeface="Inter" pitchFamily="34" charset="-120"/>
              </a:rPr>
              <a:t>bob@email.com</a:t>
            </a:r>
            <a:endParaRPr lang="en-US" sz="950" dirty="0"/>
          </a:p>
        </p:txBody>
      </p:sp>
      <p:sp>
        <p:nvSpPr>
          <p:cNvPr id="33" name="Text 29"/>
          <p:cNvSpPr/>
          <p:nvPr/>
        </p:nvSpPr>
        <p:spPr>
          <a:xfrm>
            <a:off x="5920048" y="1934812"/>
            <a:ext cx="1807452" cy="376833"/>
          </a:xfrm>
          <a:prstGeom prst="rect">
            <a:avLst/>
          </a:prstGeom>
          <a:noFill/>
          <a:ln/>
        </p:spPr>
        <p:txBody>
          <a:bodyPr wrap="square" lIns="127508" tIns="127508" rIns="127508" bIns="127508" rtlCol="0" anchor="ctr">
            <a:spAutoFit/>
          </a:bodyPr>
          <a:lstStyle/>
          <a:p>
            <a:pPr marL="0" indent="0" algn="l">
              <a:buNone/>
            </a:pPr>
            <a:r>
              <a:rPr lang="en-US" sz="950" dirty="0">
                <a:solidFill>
                  <a:srgbClr val="334155"/>
                </a:solidFill>
                <a:latin typeface="Inter" pitchFamily="34" charset="0"/>
                <a:ea typeface="Inter" pitchFamily="34" charset="-122"/>
                <a:cs typeface="Inter" pitchFamily="34" charset="-120"/>
              </a:rPr>
              <a:t>Mouse</a:t>
            </a:r>
            <a:endParaRPr lang="en-US" sz="950" dirty="0"/>
          </a:p>
        </p:txBody>
      </p:sp>
      <p:sp>
        <p:nvSpPr>
          <p:cNvPr id="34" name="Text 30"/>
          <p:cNvSpPr/>
          <p:nvPr/>
        </p:nvSpPr>
        <p:spPr>
          <a:xfrm>
            <a:off x="7727500" y="1934812"/>
            <a:ext cx="987875" cy="376833"/>
          </a:xfrm>
          <a:prstGeom prst="rect">
            <a:avLst/>
          </a:prstGeom>
          <a:noFill/>
          <a:ln/>
        </p:spPr>
        <p:txBody>
          <a:bodyPr wrap="none" lIns="127508" tIns="127508" rIns="127508" bIns="127508" rtlCol="0" anchor="ctr">
            <a:spAutoFit/>
          </a:bodyPr>
          <a:lstStyle/>
          <a:p>
            <a:pPr marL="0" indent="0" algn="l">
              <a:buNone/>
            </a:pPr>
            <a:r>
              <a:rPr lang="en-US" sz="950" dirty="0">
                <a:solidFill>
                  <a:srgbClr val="334155"/>
                </a:solidFill>
                <a:latin typeface="Inter" pitchFamily="34" charset="0"/>
                <a:ea typeface="Inter" pitchFamily="34" charset="-122"/>
                <a:cs typeface="Inter" pitchFamily="34" charset="-120"/>
              </a:rPr>
              <a:t>$25</a:t>
            </a:r>
            <a:endParaRPr lang="en-US" sz="950" dirty="0"/>
          </a:p>
        </p:txBody>
      </p:sp>
      <p:sp>
        <p:nvSpPr>
          <p:cNvPr id="35" name="Text 31"/>
          <p:cNvSpPr/>
          <p:nvPr/>
        </p:nvSpPr>
        <p:spPr>
          <a:xfrm>
            <a:off x="428625" y="2311645"/>
            <a:ext cx="1176933" cy="376833"/>
          </a:xfrm>
          <a:prstGeom prst="rect">
            <a:avLst/>
          </a:prstGeom>
          <a:noFill/>
          <a:ln/>
        </p:spPr>
        <p:txBody>
          <a:bodyPr wrap="none" lIns="127508" tIns="127508" rIns="127508" bIns="127508" rtlCol="0" anchor="ctr">
            <a:spAutoFit/>
          </a:bodyPr>
          <a:lstStyle/>
          <a:p>
            <a:pPr marL="0" indent="0" algn="l">
              <a:buNone/>
            </a:pPr>
            <a:r>
              <a:rPr lang="en-US" sz="950" dirty="0">
                <a:solidFill>
                  <a:srgbClr val="334155"/>
                </a:solidFill>
                <a:latin typeface="Inter" pitchFamily="34" charset="0"/>
                <a:ea typeface="Inter" pitchFamily="34" charset="-122"/>
                <a:cs typeface="Inter" pitchFamily="34" charset="-120"/>
              </a:rPr>
              <a:t>103</a:t>
            </a:r>
            <a:endParaRPr lang="en-US" sz="950" dirty="0"/>
          </a:p>
        </p:txBody>
      </p:sp>
      <p:sp>
        <p:nvSpPr>
          <p:cNvPr id="36" name="Shape 32"/>
          <p:cNvSpPr/>
          <p:nvPr/>
        </p:nvSpPr>
        <p:spPr>
          <a:xfrm>
            <a:off x="1605558" y="2311645"/>
            <a:ext cx="2017635" cy="376833"/>
          </a:xfrm>
          <a:prstGeom prst="rect">
            <a:avLst/>
          </a:prstGeom>
          <a:solidFill>
            <a:srgbClr val="FEE2E2"/>
          </a:solidFill>
          <a:ln/>
        </p:spPr>
        <p:txBody>
          <a:bodyPr/>
          <a:lstStyle/>
          <a:p>
            <a:endParaRPr lang="en-GB"/>
          </a:p>
        </p:txBody>
      </p:sp>
      <p:sp>
        <p:nvSpPr>
          <p:cNvPr id="37" name="Shape 33"/>
          <p:cNvSpPr/>
          <p:nvPr/>
        </p:nvSpPr>
        <p:spPr>
          <a:xfrm>
            <a:off x="1605558" y="2681334"/>
            <a:ext cx="2017635" cy="7144"/>
          </a:xfrm>
          <a:prstGeom prst="rect">
            <a:avLst/>
          </a:prstGeom>
          <a:solidFill>
            <a:srgbClr val="E2E8F0"/>
          </a:solidFill>
          <a:ln/>
        </p:spPr>
        <p:txBody>
          <a:bodyPr/>
          <a:lstStyle/>
          <a:p>
            <a:endParaRPr lang="en-GB"/>
          </a:p>
        </p:txBody>
      </p:sp>
      <p:sp>
        <p:nvSpPr>
          <p:cNvPr id="38" name="Text 34"/>
          <p:cNvSpPr/>
          <p:nvPr/>
        </p:nvSpPr>
        <p:spPr>
          <a:xfrm>
            <a:off x="1605558" y="2311645"/>
            <a:ext cx="2017635" cy="376833"/>
          </a:xfrm>
          <a:prstGeom prst="rect">
            <a:avLst/>
          </a:prstGeom>
          <a:noFill/>
          <a:ln/>
        </p:spPr>
        <p:txBody>
          <a:bodyPr wrap="square" lIns="127508" tIns="127508" rIns="127508" bIns="127508" rtlCol="0" anchor="ctr">
            <a:spAutoFit/>
          </a:bodyPr>
          <a:lstStyle/>
          <a:p>
            <a:pPr marL="0" indent="0" algn="l">
              <a:buNone/>
            </a:pPr>
            <a:r>
              <a:rPr lang="en-US" sz="900" b="1" dirty="0">
                <a:solidFill>
                  <a:srgbClr val="B91C1C"/>
                </a:solidFill>
                <a:latin typeface="Inter Bold" pitchFamily="34" charset="0"/>
                <a:ea typeface="Inter Bold" pitchFamily="34" charset="-122"/>
                <a:cs typeface="Inter Bold" pitchFamily="34" charset="-120"/>
              </a:rPr>
              <a:t>Alice Smith</a:t>
            </a:r>
            <a:endParaRPr lang="en-US" sz="900" dirty="0"/>
          </a:p>
        </p:txBody>
      </p:sp>
      <p:sp>
        <p:nvSpPr>
          <p:cNvPr id="39" name="Shape 35"/>
          <p:cNvSpPr/>
          <p:nvPr/>
        </p:nvSpPr>
        <p:spPr>
          <a:xfrm>
            <a:off x="3623193" y="2311645"/>
            <a:ext cx="2296855" cy="376833"/>
          </a:xfrm>
          <a:prstGeom prst="rect">
            <a:avLst/>
          </a:prstGeom>
          <a:solidFill>
            <a:srgbClr val="FEE2E2"/>
          </a:solidFill>
          <a:ln/>
        </p:spPr>
        <p:txBody>
          <a:bodyPr/>
          <a:lstStyle/>
          <a:p>
            <a:endParaRPr lang="en-GB"/>
          </a:p>
        </p:txBody>
      </p:sp>
      <p:sp>
        <p:nvSpPr>
          <p:cNvPr id="40" name="Shape 36"/>
          <p:cNvSpPr/>
          <p:nvPr/>
        </p:nvSpPr>
        <p:spPr>
          <a:xfrm>
            <a:off x="3623193" y="2681334"/>
            <a:ext cx="2296855" cy="7144"/>
          </a:xfrm>
          <a:prstGeom prst="rect">
            <a:avLst/>
          </a:prstGeom>
          <a:solidFill>
            <a:srgbClr val="E2E8F0"/>
          </a:solidFill>
          <a:ln/>
        </p:spPr>
        <p:txBody>
          <a:bodyPr/>
          <a:lstStyle/>
          <a:p>
            <a:endParaRPr lang="en-GB"/>
          </a:p>
        </p:txBody>
      </p:sp>
      <p:sp>
        <p:nvSpPr>
          <p:cNvPr id="41" name="Text 37"/>
          <p:cNvSpPr/>
          <p:nvPr/>
        </p:nvSpPr>
        <p:spPr>
          <a:xfrm>
            <a:off x="3623193" y="2311645"/>
            <a:ext cx="2296855" cy="376833"/>
          </a:xfrm>
          <a:prstGeom prst="rect">
            <a:avLst/>
          </a:prstGeom>
          <a:noFill/>
          <a:ln/>
        </p:spPr>
        <p:txBody>
          <a:bodyPr wrap="square" lIns="127508" tIns="127508" rIns="127508" bIns="127508" rtlCol="0" anchor="ctr">
            <a:spAutoFit/>
          </a:bodyPr>
          <a:lstStyle/>
          <a:p>
            <a:pPr marL="0" indent="0" algn="l">
              <a:buNone/>
            </a:pPr>
            <a:r>
              <a:rPr lang="en-US" sz="900" b="1" dirty="0">
                <a:solidFill>
                  <a:srgbClr val="B91C1C"/>
                </a:solidFill>
                <a:latin typeface="Inter Bold" pitchFamily="34" charset="0"/>
                <a:ea typeface="Inter Bold" pitchFamily="34" charset="-122"/>
                <a:cs typeface="Inter Bold" pitchFamily="34" charset="-120"/>
              </a:rPr>
              <a:t>alice@email.com</a:t>
            </a:r>
            <a:endParaRPr lang="en-US" sz="900" dirty="0"/>
          </a:p>
        </p:txBody>
      </p:sp>
      <p:sp>
        <p:nvSpPr>
          <p:cNvPr id="42" name="Text 38"/>
          <p:cNvSpPr/>
          <p:nvPr/>
        </p:nvSpPr>
        <p:spPr>
          <a:xfrm>
            <a:off x="5920048" y="2311645"/>
            <a:ext cx="1807452" cy="376833"/>
          </a:xfrm>
          <a:prstGeom prst="rect">
            <a:avLst/>
          </a:prstGeom>
          <a:noFill/>
          <a:ln/>
        </p:spPr>
        <p:txBody>
          <a:bodyPr wrap="square" lIns="127508" tIns="127508" rIns="127508" bIns="127508" rtlCol="0" anchor="ctr">
            <a:spAutoFit/>
          </a:bodyPr>
          <a:lstStyle/>
          <a:p>
            <a:pPr marL="0" indent="0" algn="l">
              <a:buNone/>
            </a:pPr>
            <a:r>
              <a:rPr lang="en-US" sz="950" dirty="0">
                <a:solidFill>
                  <a:srgbClr val="334155"/>
                </a:solidFill>
                <a:latin typeface="Inter" pitchFamily="34" charset="0"/>
                <a:ea typeface="Inter" pitchFamily="34" charset="-122"/>
                <a:cs typeface="Inter" pitchFamily="34" charset="-120"/>
              </a:rPr>
              <a:t>Mouse</a:t>
            </a:r>
            <a:endParaRPr lang="en-US" sz="950" dirty="0"/>
          </a:p>
        </p:txBody>
      </p:sp>
      <p:sp>
        <p:nvSpPr>
          <p:cNvPr id="43" name="Text 39"/>
          <p:cNvSpPr/>
          <p:nvPr/>
        </p:nvSpPr>
        <p:spPr>
          <a:xfrm>
            <a:off x="7727500" y="2311645"/>
            <a:ext cx="987875" cy="376833"/>
          </a:xfrm>
          <a:prstGeom prst="rect">
            <a:avLst/>
          </a:prstGeom>
          <a:noFill/>
          <a:ln/>
        </p:spPr>
        <p:txBody>
          <a:bodyPr wrap="none" lIns="127508" tIns="127508" rIns="127508" bIns="127508" rtlCol="0" anchor="ctr">
            <a:spAutoFit/>
          </a:bodyPr>
          <a:lstStyle/>
          <a:p>
            <a:pPr marL="0" indent="0" algn="l">
              <a:buNone/>
            </a:pPr>
            <a:r>
              <a:rPr lang="en-US" sz="950" dirty="0">
                <a:solidFill>
                  <a:srgbClr val="334155"/>
                </a:solidFill>
                <a:latin typeface="Inter" pitchFamily="34" charset="0"/>
                <a:ea typeface="Inter" pitchFamily="34" charset="-122"/>
                <a:cs typeface="Inter" pitchFamily="34" charset="-120"/>
              </a:rPr>
              <a:t>$25</a:t>
            </a:r>
            <a:endParaRPr lang="en-US" sz="950" dirty="0"/>
          </a:p>
        </p:txBody>
      </p:sp>
      <p:sp>
        <p:nvSpPr>
          <p:cNvPr id="44" name="Text 40"/>
          <p:cNvSpPr/>
          <p:nvPr/>
        </p:nvSpPr>
        <p:spPr>
          <a:xfrm>
            <a:off x="428625" y="2688478"/>
            <a:ext cx="1176933" cy="376833"/>
          </a:xfrm>
          <a:prstGeom prst="rect">
            <a:avLst/>
          </a:prstGeom>
          <a:noFill/>
          <a:ln/>
        </p:spPr>
        <p:txBody>
          <a:bodyPr wrap="none" lIns="127508" tIns="127508" rIns="127508" bIns="127508" rtlCol="0" anchor="ctr">
            <a:spAutoFit/>
          </a:bodyPr>
          <a:lstStyle/>
          <a:p>
            <a:pPr marL="0" indent="0" algn="l">
              <a:buNone/>
            </a:pPr>
            <a:r>
              <a:rPr lang="en-US" sz="950" dirty="0">
                <a:solidFill>
                  <a:srgbClr val="334155"/>
                </a:solidFill>
                <a:latin typeface="Inter" pitchFamily="34" charset="0"/>
                <a:ea typeface="Inter" pitchFamily="34" charset="-122"/>
                <a:cs typeface="Inter" pitchFamily="34" charset="-120"/>
              </a:rPr>
              <a:t>104</a:t>
            </a:r>
            <a:endParaRPr lang="en-US" sz="950" dirty="0"/>
          </a:p>
        </p:txBody>
      </p:sp>
      <p:sp>
        <p:nvSpPr>
          <p:cNvPr id="45" name="Text 41"/>
          <p:cNvSpPr/>
          <p:nvPr/>
        </p:nvSpPr>
        <p:spPr>
          <a:xfrm>
            <a:off x="1605558" y="2688478"/>
            <a:ext cx="2017635" cy="376833"/>
          </a:xfrm>
          <a:prstGeom prst="rect">
            <a:avLst/>
          </a:prstGeom>
          <a:noFill/>
          <a:ln/>
        </p:spPr>
        <p:txBody>
          <a:bodyPr wrap="square" lIns="127508" tIns="127508" rIns="127508" bIns="127508" rtlCol="0" anchor="ctr">
            <a:spAutoFit/>
          </a:bodyPr>
          <a:lstStyle/>
          <a:p>
            <a:pPr marL="0" indent="0" algn="l">
              <a:buNone/>
            </a:pPr>
            <a:r>
              <a:rPr lang="en-US" sz="950" dirty="0">
                <a:solidFill>
                  <a:srgbClr val="334155"/>
                </a:solidFill>
                <a:latin typeface="Inter" pitchFamily="34" charset="0"/>
                <a:ea typeface="Inter" pitchFamily="34" charset="-122"/>
                <a:cs typeface="Inter" pitchFamily="34" charset="-120"/>
              </a:rPr>
              <a:t>Charlie Brown</a:t>
            </a:r>
            <a:endParaRPr lang="en-US" sz="950" dirty="0"/>
          </a:p>
        </p:txBody>
      </p:sp>
      <p:sp>
        <p:nvSpPr>
          <p:cNvPr id="46" name="Text 42"/>
          <p:cNvSpPr/>
          <p:nvPr/>
        </p:nvSpPr>
        <p:spPr>
          <a:xfrm>
            <a:off x="3623193" y="2688478"/>
            <a:ext cx="2296855" cy="376833"/>
          </a:xfrm>
          <a:prstGeom prst="rect">
            <a:avLst/>
          </a:prstGeom>
          <a:noFill/>
          <a:ln/>
        </p:spPr>
        <p:txBody>
          <a:bodyPr wrap="square" lIns="127508" tIns="127508" rIns="127508" bIns="127508" rtlCol="0" anchor="ctr">
            <a:spAutoFit/>
          </a:bodyPr>
          <a:lstStyle/>
          <a:p>
            <a:pPr marL="0" indent="0" algn="l">
              <a:buNone/>
            </a:pPr>
            <a:r>
              <a:rPr lang="en-US" sz="950" dirty="0">
                <a:solidFill>
                  <a:srgbClr val="334155"/>
                </a:solidFill>
                <a:latin typeface="Inter" pitchFamily="34" charset="0"/>
                <a:ea typeface="Inter" pitchFamily="34" charset="-122"/>
                <a:cs typeface="Inter" pitchFamily="34" charset="-120"/>
              </a:rPr>
              <a:t>charlie@email.com</a:t>
            </a:r>
            <a:endParaRPr lang="en-US" sz="950" dirty="0"/>
          </a:p>
        </p:txBody>
      </p:sp>
      <p:sp>
        <p:nvSpPr>
          <p:cNvPr id="47" name="Text 43"/>
          <p:cNvSpPr/>
          <p:nvPr/>
        </p:nvSpPr>
        <p:spPr>
          <a:xfrm>
            <a:off x="5920048" y="2688478"/>
            <a:ext cx="1807452" cy="376833"/>
          </a:xfrm>
          <a:prstGeom prst="rect">
            <a:avLst/>
          </a:prstGeom>
          <a:noFill/>
          <a:ln/>
        </p:spPr>
        <p:txBody>
          <a:bodyPr wrap="square" lIns="127508" tIns="127508" rIns="127508" bIns="127508" rtlCol="0" anchor="ctr">
            <a:spAutoFit/>
          </a:bodyPr>
          <a:lstStyle/>
          <a:p>
            <a:pPr marL="0" indent="0" algn="l">
              <a:buNone/>
            </a:pPr>
            <a:r>
              <a:rPr lang="en-US" sz="950" dirty="0">
                <a:solidFill>
                  <a:srgbClr val="334155"/>
                </a:solidFill>
                <a:latin typeface="Inter" pitchFamily="34" charset="0"/>
                <a:ea typeface="Inter" pitchFamily="34" charset="-122"/>
                <a:cs typeface="Inter" pitchFamily="34" charset="-120"/>
              </a:rPr>
              <a:t>Desk Lamp</a:t>
            </a:r>
            <a:endParaRPr lang="en-US" sz="950" dirty="0"/>
          </a:p>
        </p:txBody>
      </p:sp>
      <p:sp>
        <p:nvSpPr>
          <p:cNvPr id="48" name="Text 44"/>
          <p:cNvSpPr/>
          <p:nvPr/>
        </p:nvSpPr>
        <p:spPr>
          <a:xfrm>
            <a:off x="7727500" y="2688478"/>
            <a:ext cx="987875" cy="376833"/>
          </a:xfrm>
          <a:prstGeom prst="rect">
            <a:avLst/>
          </a:prstGeom>
          <a:noFill/>
          <a:ln/>
        </p:spPr>
        <p:txBody>
          <a:bodyPr wrap="none" lIns="127508" tIns="127508" rIns="127508" bIns="127508" rtlCol="0" anchor="ctr">
            <a:spAutoFit/>
          </a:bodyPr>
          <a:lstStyle/>
          <a:p>
            <a:pPr marL="0" indent="0" algn="l">
              <a:buNone/>
            </a:pPr>
            <a:r>
              <a:rPr lang="en-US" sz="950" dirty="0">
                <a:solidFill>
                  <a:srgbClr val="334155"/>
                </a:solidFill>
                <a:latin typeface="Inter" pitchFamily="34" charset="0"/>
                <a:ea typeface="Inter" pitchFamily="34" charset="-122"/>
                <a:cs typeface="Inter" pitchFamily="34" charset="-120"/>
              </a:rPr>
              <a:t>$45</a:t>
            </a:r>
            <a:endParaRPr lang="en-US" sz="950" dirty="0"/>
          </a:p>
        </p:txBody>
      </p:sp>
      <p:sp>
        <p:nvSpPr>
          <p:cNvPr id="49" name="Text 45"/>
          <p:cNvSpPr/>
          <p:nvPr/>
        </p:nvSpPr>
        <p:spPr>
          <a:xfrm>
            <a:off x="428625" y="3065311"/>
            <a:ext cx="1176933" cy="376833"/>
          </a:xfrm>
          <a:prstGeom prst="rect">
            <a:avLst/>
          </a:prstGeom>
          <a:noFill/>
          <a:ln/>
        </p:spPr>
        <p:txBody>
          <a:bodyPr wrap="none" lIns="127508" tIns="127508" rIns="127508" bIns="127508" rtlCol="0" anchor="ctr">
            <a:spAutoFit/>
          </a:bodyPr>
          <a:lstStyle/>
          <a:p>
            <a:pPr marL="0" indent="0" algn="l">
              <a:buNone/>
            </a:pPr>
            <a:r>
              <a:rPr lang="en-US" sz="950" dirty="0">
                <a:solidFill>
                  <a:srgbClr val="334155"/>
                </a:solidFill>
                <a:latin typeface="Inter" pitchFamily="34" charset="0"/>
                <a:ea typeface="Inter" pitchFamily="34" charset="-122"/>
                <a:cs typeface="Inter" pitchFamily="34" charset="-120"/>
              </a:rPr>
              <a:t>105</a:t>
            </a:r>
            <a:endParaRPr lang="en-US" sz="950" dirty="0"/>
          </a:p>
        </p:txBody>
      </p:sp>
      <p:sp>
        <p:nvSpPr>
          <p:cNvPr id="50" name="Shape 46"/>
          <p:cNvSpPr/>
          <p:nvPr/>
        </p:nvSpPr>
        <p:spPr>
          <a:xfrm>
            <a:off x="1605558" y="3065311"/>
            <a:ext cx="2017635" cy="376833"/>
          </a:xfrm>
          <a:prstGeom prst="rect">
            <a:avLst/>
          </a:prstGeom>
          <a:solidFill>
            <a:srgbClr val="FEE2E2"/>
          </a:solidFill>
          <a:ln/>
        </p:spPr>
        <p:txBody>
          <a:bodyPr/>
          <a:lstStyle/>
          <a:p>
            <a:endParaRPr lang="en-GB"/>
          </a:p>
        </p:txBody>
      </p:sp>
      <p:sp>
        <p:nvSpPr>
          <p:cNvPr id="51" name="Shape 47"/>
          <p:cNvSpPr/>
          <p:nvPr/>
        </p:nvSpPr>
        <p:spPr>
          <a:xfrm>
            <a:off x="1605558" y="3435000"/>
            <a:ext cx="2017635" cy="7144"/>
          </a:xfrm>
          <a:prstGeom prst="rect">
            <a:avLst/>
          </a:prstGeom>
          <a:solidFill>
            <a:srgbClr val="E2E8F0"/>
          </a:solidFill>
          <a:ln/>
        </p:spPr>
        <p:txBody>
          <a:bodyPr/>
          <a:lstStyle/>
          <a:p>
            <a:endParaRPr lang="en-GB"/>
          </a:p>
        </p:txBody>
      </p:sp>
      <p:sp>
        <p:nvSpPr>
          <p:cNvPr id="52" name="Text 48"/>
          <p:cNvSpPr/>
          <p:nvPr/>
        </p:nvSpPr>
        <p:spPr>
          <a:xfrm>
            <a:off x="1605558" y="3065311"/>
            <a:ext cx="2017635" cy="376833"/>
          </a:xfrm>
          <a:prstGeom prst="rect">
            <a:avLst/>
          </a:prstGeom>
          <a:noFill/>
          <a:ln/>
        </p:spPr>
        <p:txBody>
          <a:bodyPr wrap="square" lIns="127508" tIns="127508" rIns="127508" bIns="127508" rtlCol="0" anchor="ctr">
            <a:spAutoFit/>
          </a:bodyPr>
          <a:lstStyle/>
          <a:p>
            <a:pPr marL="0" indent="0" algn="l">
              <a:buNone/>
            </a:pPr>
            <a:r>
              <a:rPr lang="en-US" sz="900" b="1" dirty="0">
                <a:solidFill>
                  <a:srgbClr val="B91C1C"/>
                </a:solidFill>
                <a:latin typeface="Inter Bold" pitchFamily="34" charset="0"/>
                <a:ea typeface="Inter Bold" pitchFamily="34" charset="-122"/>
                <a:cs typeface="Inter Bold" pitchFamily="34" charset="-120"/>
              </a:rPr>
              <a:t>Alice Smith</a:t>
            </a:r>
            <a:endParaRPr lang="en-US" sz="900" dirty="0"/>
          </a:p>
        </p:txBody>
      </p:sp>
      <p:sp>
        <p:nvSpPr>
          <p:cNvPr id="53" name="Shape 49"/>
          <p:cNvSpPr/>
          <p:nvPr/>
        </p:nvSpPr>
        <p:spPr>
          <a:xfrm>
            <a:off x="3623193" y="3065311"/>
            <a:ext cx="2296855" cy="376833"/>
          </a:xfrm>
          <a:prstGeom prst="rect">
            <a:avLst/>
          </a:prstGeom>
          <a:solidFill>
            <a:srgbClr val="FEE2E2"/>
          </a:solidFill>
          <a:ln/>
        </p:spPr>
        <p:txBody>
          <a:bodyPr/>
          <a:lstStyle/>
          <a:p>
            <a:endParaRPr lang="en-GB"/>
          </a:p>
        </p:txBody>
      </p:sp>
      <p:sp>
        <p:nvSpPr>
          <p:cNvPr id="54" name="Shape 50"/>
          <p:cNvSpPr/>
          <p:nvPr/>
        </p:nvSpPr>
        <p:spPr>
          <a:xfrm>
            <a:off x="3623193" y="3435000"/>
            <a:ext cx="2296855" cy="7144"/>
          </a:xfrm>
          <a:prstGeom prst="rect">
            <a:avLst/>
          </a:prstGeom>
          <a:solidFill>
            <a:srgbClr val="E2E8F0"/>
          </a:solidFill>
          <a:ln/>
        </p:spPr>
        <p:txBody>
          <a:bodyPr/>
          <a:lstStyle/>
          <a:p>
            <a:endParaRPr lang="en-GB"/>
          </a:p>
        </p:txBody>
      </p:sp>
      <p:sp>
        <p:nvSpPr>
          <p:cNvPr id="55" name="Text 51"/>
          <p:cNvSpPr/>
          <p:nvPr/>
        </p:nvSpPr>
        <p:spPr>
          <a:xfrm>
            <a:off x="3623193" y="3065311"/>
            <a:ext cx="2296855" cy="376833"/>
          </a:xfrm>
          <a:prstGeom prst="rect">
            <a:avLst/>
          </a:prstGeom>
          <a:noFill/>
          <a:ln/>
        </p:spPr>
        <p:txBody>
          <a:bodyPr wrap="square" lIns="127508" tIns="127508" rIns="127508" bIns="127508" rtlCol="0" anchor="ctr">
            <a:spAutoFit/>
          </a:bodyPr>
          <a:lstStyle/>
          <a:p>
            <a:pPr marL="0" indent="0" algn="l">
              <a:buNone/>
            </a:pPr>
            <a:r>
              <a:rPr lang="en-US" sz="900" b="1" dirty="0">
                <a:solidFill>
                  <a:srgbClr val="B91C1C"/>
                </a:solidFill>
                <a:latin typeface="Inter Bold" pitchFamily="34" charset="0"/>
                <a:ea typeface="Inter Bold" pitchFamily="34" charset="-122"/>
                <a:cs typeface="Inter Bold" pitchFamily="34" charset="-120"/>
              </a:rPr>
              <a:t>alice@email.com</a:t>
            </a:r>
            <a:endParaRPr lang="en-US" sz="900" dirty="0"/>
          </a:p>
        </p:txBody>
      </p:sp>
      <p:sp>
        <p:nvSpPr>
          <p:cNvPr id="56" name="Text 52"/>
          <p:cNvSpPr/>
          <p:nvPr/>
        </p:nvSpPr>
        <p:spPr>
          <a:xfrm>
            <a:off x="5920048" y="3065311"/>
            <a:ext cx="1807452" cy="376833"/>
          </a:xfrm>
          <a:prstGeom prst="rect">
            <a:avLst/>
          </a:prstGeom>
          <a:noFill/>
          <a:ln/>
        </p:spPr>
        <p:txBody>
          <a:bodyPr wrap="square" lIns="127508" tIns="127508" rIns="127508" bIns="127508" rtlCol="0" anchor="ctr">
            <a:spAutoFit/>
          </a:bodyPr>
          <a:lstStyle/>
          <a:p>
            <a:pPr marL="0" indent="0" algn="l">
              <a:buNone/>
            </a:pPr>
            <a:r>
              <a:rPr lang="en-US" sz="950" dirty="0">
                <a:solidFill>
                  <a:srgbClr val="334155"/>
                </a:solidFill>
                <a:latin typeface="Inter" pitchFamily="34" charset="0"/>
                <a:ea typeface="Inter" pitchFamily="34" charset="-122"/>
                <a:cs typeface="Inter" pitchFamily="34" charset="-120"/>
              </a:rPr>
              <a:t>Monitor</a:t>
            </a:r>
            <a:endParaRPr lang="en-US" sz="950" dirty="0"/>
          </a:p>
        </p:txBody>
      </p:sp>
      <p:sp>
        <p:nvSpPr>
          <p:cNvPr id="57" name="Text 53"/>
          <p:cNvSpPr/>
          <p:nvPr/>
        </p:nvSpPr>
        <p:spPr>
          <a:xfrm>
            <a:off x="7727500" y="3065311"/>
            <a:ext cx="987875" cy="376833"/>
          </a:xfrm>
          <a:prstGeom prst="rect">
            <a:avLst/>
          </a:prstGeom>
          <a:noFill/>
          <a:ln/>
        </p:spPr>
        <p:txBody>
          <a:bodyPr wrap="none" lIns="127508" tIns="127508" rIns="127508" bIns="127508" rtlCol="0" anchor="ctr">
            <a:spAutoFit/>
          </a:bodyPr>
          <a:lstStyle/>
          <a:p>
            <a:pPr marL="0" indent="0" algn="l">
              <a:buNone/>
            </a:pPr>
            <a:r>
              <a:rPr lang="en-US" sz="950" dirty="0">
                <a:solidFill>
                  <a:srgbClr val="334155"/>
                </a:solidFill>
                <a:latin typeface="Inter" pitchFamily="34" charset="0"/>
                <a:ea typeface="Inter" pitchFamily="34" charset="-122"/>
                <a:cs typeface="Inter" pitchFamily="34" charset="-120"/>
              </a:rPr>
              <a:t>$300</a:t>
            </a:r>
            <a:endParaRPr lang="en-US" sz="950" dirty="0"/>
          </a:p>
        </p:txBody>
      </p:sp>
      <p:sp>
        <p:nvSpPr>
          <p:cNvPr id="58" name="Shape 54"/>
          <p:cNvSpPr/>
          <p:nvPr/>
        </p:nvSpPr>
        <p:spPr>
          <a:xfrm>
            <a:off x="428625" y="3731465"/>
            <a:ext cx="1518047" cy="387548"/>
          </a:xfrm>
          <a:prstGeom prst="roundRect">
            <a:avLst/>
          </a:prstGeom>
          <a:solidFill>
            <a:srgbClr val="FEE2E2"/>
          </a:solidFill>
          <a:ln/>
        </p:spPr>
        <p:txBody>
          <a:bodyPr/>
          <a:lstStyle/>
          <a:p>
            <a:endParaRPr lang="en-GB"/>
          </a:p>
        </p:txBody>
      </p:sp>
      <p:pic>
        <p:nvPicPr>
          <p:cNvPr id="59" name="Image 1" descr="preencoded.png"/>
          <p:cNvPicPr>
            <a:picLocks noChangeAspect="1"/>
          </p:cNvPicPr>
          <p:nvPr/>
        </p:nvPicPr>
        <p:blipFill>
          <a:blip r:embed="rId4"/>
          <a:stretch>
            <a:fillRect/>
          </a:stretch>
        </p:blipFill>
        <p:spPr>
          <a:xfrm>
            <a:off x="642938" y="3853802"/>
            <a:ext cx="142875" cy="142875"/>
          </a:xfrm>
          <a:prstGeom prst="rect">
            <a:avLst/>
          </a:prstGeom>
        </p:spPr>
      </p:pic>
      <p:sp>
        <p:nvSpPr>
          <p:cNvPr id="60" name="Text 55"/>
          <p:cNvSpPr/>
          <p:nvPr/>
        </p:nvSpPr>
        <p:spPr>
          <a:xfrm>
            <a:off x="857250" y="3838622"/>
            <a:ext cx="875109" cy="173236"/>
          </a:xfrm>
          <a:prstGeom prst="rect">
            <a:avLst/>
          </a:prstGeom>
          <a:noFill/>
          <a:ln/>
        </p:spPr>
        <p:txBody>
          <a:bodyPr wrap="none" lIns="0" tIns="0" rIns="0" bIns="0" rtlCol="0" anchor="t">
            <a:spAutoFit/>
          </a:bodyPr>
          <a:lstStyle/>
          <a:p>
            <a:pPr marL="0" indent="0" algn="l">
              <a:buNone/>
            </a:pPr>
            <a:r>
              <a:rPr lang="en-US" sz="1000" b="1" dirty="0">
                <a:solidFill>
                  <a:srgbClr val="B91C1C"/>
                </a:solidFill>
                <a:latin typeface="Inter Bold" pitchFamily="34" charset="0"/>
                <a:ea typeface="Inter Bold" pitchFamily="34" charset="-122"/>
                <a:cs typeface="Inter Bold" pitchFamily="34" charset="-120"/>
              </a:rPr>
              <a:t>Redundancy</a:t>
            </a:r>
            <a:endParaRPr lang="en-US" sz="1000" dirty="0"/>
          </a:p>
        </p:txBody>
      </p:sp>
      <p:sp>
        <p:nvSpPr>
          <p:cNvPr id="61" name="Shape 56"/>
          <p:cNvSpPr/>
          <p:nvPr/>
        </p:nvSpPr>
        <p:spPr>
          <a:xfrm>
            <a:off x="2160984" y="3731465"/>
            <a:ext cx="1089422" cy="387548"/>
          </a:xfrm>
          <a:prstGeom prst="roundRect">
            <a:avLst/>
          </a:prstGeom>
          <a:solidFill>
            <a:srgbClr val="FEE2E2"/>
          </a:solidFill>
          <a:ln/>
        </p:spPr>
        <p:txBody>
          <a:bodyPr/>
          <a:lstStyle/>
          <a:p>
            <a:endParaRPr lang="en-GB"/>
          </a:p>
        </p:txBody>
      </p:sp>
      <p:pic>
        <p:nvPicPr>
          <p:cNvPr id="62" name="Image 2" descr="preencoded.png"/>
          <p:cNvPicPr>
            <a:picLocks noChangeAspect="1"/>
          </p:cNvPicPr>
          <p:nvPr/>
        </p:nvPicPr>
        <p:blipFill>
          <a:blip r:embed="rId5"/>
          <a:stretch>
            <a:fillRect/>
          </a:stretch>
        </p:blipFill>
        <p:spPr>
          <a:xfrm>
            <a:off x="2375297" y="3853802"/>
            <a:ext cx="160734" cy="142875"/>
          </a:xfrm>
          <a:prstGeom prst="rect">
            <a:avLst/>
          </a:prstGeom>
        </p:spPr>
      </p:pic>
      <p:sp>
        <p:nvSpPr>
          <p:cNvPr id="63" name="Text 57"/>
          <p:cNvSpPr/>
          <p:nvPr/>
        </p:nvSpPr>
        <p:spPr>
          <a:xfrm>
            <a:off x="2607469" y="3838622"/>
            <a:ext cx="428625" cy="173236"/>
          </a:xfrm>
          <a:prstGeom prst="rect">
            <a:avLst/>
          </a:prstGeom>
          <a:noFill/>
          <a:ln/>
        </p:spPr>
        <p:txBody>
          <a:bodyPr wrap="none" lIns="0" tIns="0" rIns="0" bIns="0" rtlCol="0" anchor="t">
            <a:spAutoFit/>
          </a:bodyPr>
          <a:lstStyle/>
          <a:p>
            <a:pPr marL="0" indent="0" algn="l">
              <a:buNone/>
            </a:pPr>
            <a:r>
              <a:rPr lang="en-US" sz="1000" b="1" dirty="0">
                <a:solidFill>
                  <a:srgbClr val="B91C1C"/>
                </a:solidFill>
                <a:latin typeface="Inter Bold" pitchFamily="34" charset="0"/>
                <a:ea typeface="Inter Bold" pitchFamily="34" charset="-122"/>
                <a:cs typeface="Inter Bold" pitchFamily="34" charset="-120"/>
              </a:rPr>
              <a:t>Typos</a:t>
            </a:r>
            <a:endParaRPr lang="en-US" sz="1000" dirty="0"/>
          </a:p>
        </p:txBody>
      </p:sp>
      <p:sp>
        <p:nvSpPr>
          <p:cNvPr id="64" name="Shape 58"/>
          <p:cNvSpPr/>
          <p:nvPr/>
        </p:nvSpPr>
        <p:spPr>
          <a:xfrm>
            <a:off x="3464719" y="3731465"/>
            <a:ext cx="1684139" cy="387548"/>
          </a:xfrm>
          <a:prstGeom prst="roundRect">
            <a:avLst/>
          </a:prstGeom>
          <a:solidFill>
            <a:srgbClr val="FEE2E2"/>
          </a:solidFill>
          <a:ln/>
        </p:spPr>
        <p:txBody>
          <a:bodyPr/>
          <a:lstStyle/>
          <a:p>
            <a:endParaRPr lang="en-GB"/>
          </a:p>
        </p:txBody>
      </p:sp>
      <p:pic>
        <p:nvPicPr>
          <p:cNvPr id="65" name="Image 3" descr="preencoded.png"/>
          <p:cNvPicPr>
            <a:picLocks noChangeAspect="1"/>
          </p:cNvPicPr>
          <p:nvPr/>
        </p:nvPicPr>
        <p:blipFill>
          <a:blip r:embed="rId6"/>
          <a:stretch>
            <a:fillRect/>
          </a:stretch>
        </p:blipFill>
        <p:spPr>
          <a:xfrm>
            <a:off x="3679031" y="3853802"/>
            <a:ext cx="142875" cy="142875"/>
          </a:xfrm>
          <a:prstGeom prst="rect">
            <a:avLst/>
          </a:prstGeom>
        </p:spPr>
      </p:pic>
      <p:sp>
        <p:nvSpPr>
          <p:cNvPr id="66" name="Text 59"/>
          <p:cNvSpPr/>
          <p:nvPr/>
        </p:nvSpPr>
        <p:spPr>
          <a:xfrm>
            <a:off x="3893344" y="3838622"/>
            <a:ext cx="1041202" cy="173236"/>
          </a:xfrm>
          <a:prstGeom prst="rect">
            <a:avLst/>
          </a:prstGeom>
          <a:noFill/>
          <a:ln/>
        </p:spPr>
        <p:txBody>
          <a:bodyPr wrap="none" lIns="0" tIns="0" rIns="0" bIns="0" rtlCol="0" anchor="t">
            <a:spAutoFit/>
          </a:bodyPr>
          <a:lstStyle/>
          <a:p>
            <a:pPr marL="0" indent="0" algn="l">
              <a:buNone/>
            </a:pPr>
            <a:r>
              <a:rPr lang="en-US" sz="1000" b="1" dirty="0">
                <a:solidFill>
                  <a:srgbClr val="B91C1C"/>
                </a:solidFill>
                <a:latin typeface="Inter Bold" pitchFamily="34" charset="0"/>
                <a:ea typeface="Inter Bold" pitchFamily="34" charset="-122"/>
                <a:cs typeface="Inter Bold" pitchFamily="34" charset="-120"/>
              </a:rPr>
              <a:t>Hard to Update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7144"/>
            <a:ext cx="9144000" cy="5143500"/>
          </a:xfrm>
          <a:prstGeom prst="rect">
            <a:avLst/>
          </a:prstGeom>
        </p:spPr>
      </p:pic>
      <p:sp>
        <p:nvSpPr>
          <p:cNvPr id="4" name="Text 0"/>
          <p:cNvSpPr/>
          <p:nvPr/>
        </p:nvSpPr>
        <p:spPr>
          <a:xfrm>
            <a:off x="571500" y="706087"/>
            <a:ext cx="8572500" cy="414338"/>
          </a:xfrm>
          <a:prstGeom prst="rect">
            <a:avLst/>
          </a:prstGeom>
          <a:noFill/>
          <a:ln/>
        </p:spPr>
        <p:txBody>
          <a:bodyPr wrap="square" lIns="0" tIns="0" rIns="0" bIns="0" rtlCol="0" anchor="t">
            <a:spAutoFit/>
          </a:bodyPr>
          <a:lstStyle/>
          <a:p>
            <a:pPr marL="0" indent="0" algn="l">
              <a:buNone/>
            </a:pPr>
            <a:r>
              <a:rPr lang="en-US" sz="2450" b="1" dirty="0">
                <a:solidFill>
                  <a:srgbClr val="1E293B"/>
                </a:solidFill>
                <a:latin typeface="Inter Bold" pitchFamily="34" charset="0"/>
                <a:ea typeface="Inter Bold" pitchFamily="34" charset="-122"/>
                <a:cs typeface="Inter Bold" pitchFamily="34" charset="-120"/>
              </a:rPr>
              <a:t>What is Normalization?</a:t>
            </a:r>
            <a:endParaRPr lang="en-US" sz="2450" dirty="0"/>
          </a:p>
        </p:txBody>
      </p:sp>
      <p:sp>
        <p:nvSpPr>
          <p:cNvPr id="5" name="Shape 1"/>
          <p:cNvSpPr/>
          <p:nvPr/>
        </p:nvSpPr>
        <p:spPr>
          <a:xfrm>
            <a:off x="571500" y="1477612"/>
            <a:ext cx="8001000" cy="1491593"/>
          </a:xfrm>
          <a:prstGeom prst="rect">
            <a:avLst/>
          </a:prstGeom>
          <a:solidFill>
            <a:srgbClr val="FFFFFF"/>
          </a:solidFill>
          <a:ln/>
        </p:spPr>
        <p:txBody>
          <a:bodyPr/>
          <a:lstStyle/>
          <a:p>
            <a:endParaRPr lang="en-GB"/>
          </a:p>
        </p:txBody>
      </p:sp>
      <p:sp>
        <p:nvSpPr>
          <p:cNvPr id="6" name="Shape 2"/>
          <p:cNvSpPr/>
          <p:nvPr/>
        </p:nvSpPr>
        <p:spPr>
          <a:xfrm>
            <a:off x="571500" y="1477612"/>
            <a:ext cx="8001000" cy="57150"/>
          </a:xfrm>
          <a:prstGeom prst="rect">
            <a:avLst/>
          </a:prstGeom>
          <a:solidFill>
            <a:srgbClr val="3B82F6"/>
          </a:solidFill>
          <a:ln/>
        </p:spPr>
        <p:txBody>
          <a:bodyPr/>
          <a:lstStyle/>
          <a:p>
            <a:endParaRPr lang="en-GB"/>
          </a:p>
        </p:txBody>
      </p:sp>
      <p:sp>
        <p:nvSpPr>
          <p:cNvPr id="7" name="Text 3"/>
          <p:cNvSpPr/>
          <p:nvPr/>
        </p:nvSpPr>
        <p:spPr>
          <a:xfrm>
            <a:off x="857250" y="1763362"/>
            <a:ext cx="7429500" cy="1148693"/>
          </a:xfrm>
          <a:prstGeom prst="rect">
            <a:avLst/>
          </a:prstGeom>
          <a:noFill/>
          <a:ln/>
        </p:spPr>
        <p:txBody>
          <a:bodyPr wrap="square" lIns="0" tIns="170053" rIns="0" bIns="340233" rtlCol="0" anchor="t">
            <a:spAutoFit/>
          </a:bodyPr>
          <a:lstStyle/>
          <a:p>
            <a:pPr marL="0" indent="0" algn="l">
              <a:lnSpc>
                <a:spcPct val="112000"/>
              </a:lnSpc>
              <a:buNone/>
            </a:pPr>
            <a:r>
              <a:rPr lang="en-US" sz="1900" dirty="0">
                <a:solidFill>
                  <a:srgbClr val="1E293B"/>
                </a:solidFill>
                <a:latin typeface="Inter" pitchFamily="34" charset="0"/>
                <a:ea typeface="Inter" pitchFamily="34" charset="-122"/>
                <a:cs typeface="Inter" pitchFamily="34" charset="-120"/>
              </a:rPr>
              <a:t>The process of </a:t>
            </a:r>
            <a:r>
              <a:rPr lang="en-US" sz="1800" b="1" dirty="0">
                <a:solidFill>
                  <a:srgbClr val="3B82F6"/>
                </a:solidFill>
                <a:latin typeface="Inter Bold" pitchFamily="34" charset="0"/>
                <a:ea typeface="Inter Bold" pitchFamily="34" charset="-122"/>
                <a:cs typeface="Inter Bold" pitchFamily="34" charset="-120"/>
              </a:rPr>
              <a:t>organizing data</a:t>
            </a:r>
            <a:r>
              <a:rPr lang="en-US" sz="1900" dirty="0">
                <a:solidFill>
                  <a:srgbClr val="1E293B"/>
                </a:solidFill>
                <a:latin typeface="Inter" pitchFamily="34" charset="0"/>
                <a:ea typeface="Inter" pitchFamily="34" charset="-122"/>
                <a:cs typeface="Inter" pitchFamily="34" charset="-120"/>
              </a:rPr>
              <a:t> into multiple </a:t>
            </a:r>
            <a:r>
              <a:rPr lang="en-US" sz="1800" b="1" dirty="0">
                <a:solidFill>
                  <a:srgbClr val="3B82F6"/>
                </a:solidFill>
                <a:latin typeface="Inter Bold" pitchFamily="34" charset="0"/>
                <a:ea typeface="Inter Bold" pitchFamily="34" charset="-122"/>
                <a:cs typeface="Inter Bold" pitchFamily="34" charset="-120"/>
              </a:rPr>
              <a:t>related tables</a:t>
            </a:r>
            <a:r>
              <a:rPr lang="en-US" sz="1900" dirty="0">
                <a:solidFill>
                  <a:srgbClr val="1E293B"/>
                </a:solidFill>
                <a:latin typeface="Inter" pitchFamily="34" charset="0"/>
                <a:ea typeface="Inter" pitchFamily="34" charset="-122"/>
                <a:cs typeface="Inter" pitchFamily="34" charset="-120"/>
              </a:rPr>
              <a:t> to ensure each piece of information is stored only once.</a:t>
            </a:r>
            <a:endParaRPr lang="en-US" sz="1900" dirty="0"/>
          </a:p>
        </p:txBody>
      </p:sp>
      <p:sp>
        <p:nvSpPr>
          <p:cNvPr id="8" name="Shape 4"/>
          <p:cNvSpPr/>
          <p:nvPr/>
        </p:nvSpPr>
        <p:spPr>
          <a:xfrm>
            <a:off x="571500" y="3340680"/>
            <a:ext cx="2524116" cy="1071563"/>
          </a:xfrm>
          <a:prstGeom prst="rect">
            <a:avLst/>
          </a:prstGeom>
          <a:solidFill>
            <a:srgbClr val="EFF6FF"/>
          </a:solidFill>
          <a:ln/>
        </p:spPr>
        <p:txBody>
          <a:bodyPr/>
          <a:lstStyle/>
          <a:p>
            <a:endParaRPr lang="en-GB"/>
          </a:p>
        </p:txBody>
      </p:sp>
      <p:pic>
        <p:nvPicPr>
          <p:cNvPr id="9" name="Image 1" descr="preencoded.png"/>
          <p:cNvPicPr>
            <a:picLocks noChangeAspect="1"/>
          </p:cNvPicPr>
          <p:nvPr/>
        </p:nvPicPr>
        <p:blipFill>
          <a:blip r:embed="rId4"/>
          <a:stretch>
            <a:fillRect/>
          </a:stretch>
        </p:blipFill>
        <p:spPr>
          <a:xfrm>
            <a:off x="1733531" y="3574638"/>
            <a:ext cx="200025" cy="200025"/>
          </a:xfrm>
          <a:prstGeom prst="rect">
            <a:avLst/>
          </a:prstGeom>
        </p:spPr>
      </p:pic>
      <p:sp>
        <p:nvSpPr>
          <p:cNvPr id="10" name="Text 5"/>
          <p:cNvSpPr/>
          <p:nvPr/>
        </p:nvSpPr>
        <p:spPr>
          <a:xfrm>
            <a:off x="1136135" y="3869317"/>
            <a:ext cx="1394817" cy="189309"/>
          </a:xfrm>
          <a:prstGeom prst="rect">
            <a:avLst/>
          </a:prstGeom>
          <a:noFill/>
          <a:ln/>
        </p:spPr>
        <p:txBody>
          <a:bodyPr wrap="square" lIns="0" tIns="0" rIns="0" bIns="0" rtlCol="0" anchor="t">
            <a:spAutoFit/>
          </a:bodyPr>
          <a:lstStyle/>
          <a:p>
            <a:pPr marL="0" indent="0" algn="ctr">
              <a:buNone/>
            </a:pPr>
            <a:r>
              <a:rPr lang="en-US" sz="1100" b="1" dirty="0">
                <a:solidFill>
                  <a:srgbClr val="1E293B"/>
                </a:solidFill>
                <a:latin typeface="Inter Bold" pitchFamily="34" charset="0"/>
                <a:ea typeface="Inter Bold" pitchFamily="34" charset="-122"/>
                <a:cs typeface="Inter Bold" pitchFamily="34" charset="-120"/>
              </a:rPr>
              <a:t>Reduce Repetition</a:t>
            </a:r>
            <a:endParaRPr lang="en-US" sz="1100" dirty="0"/>
          </a:p>
        </p:txBody>
      </p:sp>
      <p:sp>
        <p:nvSpPr>
          <p:cNvPr id="11" name="Shape 6"/>
          <p:cNvSpPr/>
          <p:nvPr/>
        </p:nvSpPr>
        <p:spPr>
          <a:xfrm>
            <a:off x="3309928" y="3340680"/>
            <a:ext cx="2524116" cy="1071563"/>
          </a:xfrm>
          <a:prstGeom prst="rect">
            <a:avLst/>
          </a:prstGeom>
          <a:solidFill>
            <a:srgbClr val="EFF6FF"/>
          </a:solidFill>
          <a:ln/>
        </p:spPr>
        <p:txBody>
          <a:bodyPr/>
          <a:lstStyle/>
          <a:p>
            <a:endParaRPr lang="en-GB"/>
          </a:p>
        </p:txBody>
      </p:sp>
      <p:pic>
        <p:nvPicPr>
          <p:cNvPr id="12" name="Image 2" descr="preencoded.png"/>
          <p:cNvPicPr>
            <a:picLocks noChangeAspect="1"/>
          </p:cNvPicPr>
          <p:nvPr/>
        </p:nvPicPr>
        <p:blipFill>
          <a:blip r:embed="rId5"/>
          <a:stretch>
            <a:fillRect/>
          </a:stretch>
        </p:blipFill>
        <p:spPr>
          <a:xfrm>
            <a:off x="4471960" y="3574638"/>
            <a:ext cx="200025" cy="200025"/>
          </a:xfrm>
          <a:prstGeom prst="rect">
            <a:avLst/>
          </a:prstGeom>
        </p:spPr>
      </p:pic>
      <p:sp>
        <p:nvSpPr>
          <p:cNvPr id="13" name="Text 7"/>
          <p:cNvSpPr/>
          <p:nvPr/>
        </p:nvSpPr>
        <p:spPr>
          <a:xfrm>
            <a:off x="3873671" y="3869317"/>
            <a:ext cx="1396603" cy="189309"/>
          </a:xfrm>
          <a:prstGeom prst="rect">
            <a:avLst/>
          </a:prstGeom>
          <a:noFill/>
          <a:ln/>
        </p:spPr>
        <p:txBody>
          <a:bodyPr wrap="square" lIns="0" tIns="0" rIns="0" bIns="0" rtlCol="0" anchor="t">
            <a:spAutoFit/>
          </a:bodyPr>
          <a:lstStyle/>
          <a:p>
            <a:pPr marL="0" indent="0" algn="ctr">
              <a:buNone/>
            </a:pPr>
            <a:r>
              <a:rPr lang="en-US" sz="1100" b="1" dirty="0">
                <a:solidFill>
                  <a:srgbClr val="1E293B"/>
                </a:solidFill>
                <a:latin typeface="Inter Bold" pitchFamily="34" charset="0"/>
                <a:ea typeface="Inter Bold" pitchFamily="34" charset="-122"/>
                <a:cs typeface="Inter Bold" pitchFamily="34" charset="-120"/>
              </a:rPr>
              <a:t>Improve Accuracy</a:t>
            </a:r>
            <a:endParaRPr lang="en-US" sz="1100" dirty="0"/>
          </a:p>
        </p:txBody>
      </p:sp>
      <p:sp>
        <p:nvSpPr>
          <p:cNvPr id="14" name="Shape 8"/>
          <p:cNvSpPr/>
          <p:nvPr/>
        </p:nvSpPr>
        <p:spPr>
          <a:xfrm>
            <a:off x="6048356" y="3340680"/>
            <a:ext cx="2524116" cy="1071563"/>
          </a:xfrm>
          <a:prstGeom prst="rect">
            <a:avLst/>
          </a:prstGeom>
          <a:solidFill>
            <a:srgbClr val="EFF6FF"/>
          </a:solidFill>
          <a:ln/>
        </p:spPr>
        <p:txBody>
          <a:bodyPr/>
          <a:lstStyle/>
          <a:p>
            <a:endParaRPr lang="en-GB"/>
          </a:p>
        </p:txBody>
      </p:sp>
      <p:pic>
        <p:nvPicPr>
          <p:cNvPr id="15" name="Image 3" descr="preencoded.png"/>
          <p:cNvPicPr>
            <a:picLocks noChangeAspect="1"/>
          </p:cNvPicPr>
          <p:nvPr/>
        </p:nvPicPr>
        <p:blipFill>
          <a:blip r:embed="rId6"/>
          <a:stretch>
            <a:fillRect/>
          </a:stretch>
        </p:blipFill>
        <p:spPr>
          <a:xfrm>
            <a:off x="7197886" y="3574638"/>
            <a:ext cx="225028" cy="200025"/>
          </a:xfrm>
          <a:prstGeom prst="rect">
            <a:avLst/>
          </a:prstGeom>
        </p:spPr>
      </p:pic>
      <p:sp>
        <p:nvSpPr>
          <p:cNvPr id="16" name="Text 9"/>
          <p:cNvSpPr/>
          <p:nvPr/>
        </p:nvSpPr>
        <p:spPr>
          <a:xfrm>
            <a:off x="6673714" y="3869317"/>
            <a:ext cx="1273373" cy="189309"/>
          </a:xfrm>
          <a:prstGeom prst="rect">
            <a:avLst/>
          </a:prstGeom>
          <a:noFill/>
          <a:ln/>
        </p:spPr>
        <p:txBody>
          <a:bodyPr wrap="none" lIns="0" tIns="0" rIns="0" bIns="0" rtlCol="0" anchor="t">
            <a:spAutoFit/>
          </a:bodyPr>
          <a:lstStyle/>
          <a:p>
            <a:pPr marL="0" indent="0" algn="ctr">
              <a:buNone/>
            </a:pPr>
            <a:r>
              <a:rPr lang="en-US" sz="1100" b="1" dirty="0">
                <a:solidFill>
                  <a:srgbClr val="1E293B"/>
                </a:solidFill>
                <a:latin typeface="Inter Bold" pitchFamily="34" charset="0"/>
                <a:ea typeface="Inter Bold" pitchFamily="34" charset="-122"/>
                <a:cs typeface="Inter Bold" pitchFamily="34" charset="-120"/>
              </a:rPr>
              <a:t>Enable Modeling</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7144"/>
            <a:ext cx="9144000" cy="5143500"/>
          </a:xfrm>
          <a:prstGeom prst="rect">
            <a:avLst/>
          </a:prstGeom>
        </p:spPr>
      </p:pic>
      <p:sp>
        <p:nvSpPr>
          <p:cNvPr id="4" name="Text 0"/>
          <p:cNvSpPr/>
          <p:nvPr/>
        </p:nvSpPr>
        <p:spPr>
          <a:xfrm>
            <a:off x="571500" y="706087"/>
            <a:ext cx="8572500" cy="414338"/>
          </a:xfrm>
          <a:prstGeom prst="rect">
            <a:avLst/>
          </a:prstGeom>
          <a:noFill/>
          <a:ln/>
        </p:spPr>
        <p:txBody>
          <a:bodyPr wrap="square" lIns="0" tIns="0" rIns="0" bIns="0" rtlCol="0" anchor="t">
            <a:spAutoFit/>
          </a:bodyPr>
          <a:lstStyle/>
          <a:p>
            <a:pPr marL="0" indent="0" algn="l">
              <a:buNone/>
            </a:pPr>
            <a:r>
              <a:rPr lang="en-US" sz="2450" b="1" dirty="0">
                <a:solidFill>
                  <a:srgbClr val="1E293B"/>
                </a:solidFill>
                <a:latin typeface="Inter Bold" pitchFamily="34" charset="0"/>
                <a:ea typeface="Inter Bold" pitchFamily="34" charset="-122"/>
                <a:cs typeface="Inter Bold" pitchFamily="34" charset="-120"/>
              </a:rPr>
              <a:t>Meet the "Fact" Table</a:t>
            </a:r>
            <a:endParaRPr lang="en-US" sz="2450" dirty="0"/>
          </a:p>
        </p:txBody>
      </p:sp>
      <p:sp>
        <p:nvSpPr>
          <p:cNvPr id="5" name="Shape 1"/>
          <p:cNvSpPr/>
          <p:nvPr/>
        </p:nvSpPr>
        <p:spPr>
          <a:xfrm>
            <a:off x="571500" y="1477612"/>
            <a:ext cx="3441976" cy="528638"/>
          </a:xfrm>
          <a:prstGeom prst="rect">
            <a:avLst/>
          </a:prstGeom>
          <a:solidFill>
            <a:srgbClr val="3B82F6"/>
          </a:solidFill>
          <a:ln/>
        </p:spPr>
        <p:txBody>
          <a:bodyPr/>
          <a:lstStyle/>
          <a:p>
            <a:endParaRPr lang="en-GB"/>
          </a:p>
        </p:txBody>
      </p:sp>
      <p:sp>
        <p:nvSpPr>
          <p:cNvPr id="6" name="Text 2"/>
          <p:cNvSpPr/>
          <p:nvPr/>
        </p:nvSpPr>
        <p:spPr>
          <a:xfrm>
            <a:off x="571500" y="1477612"/>
            <a:ext cx="3441976" cy="528638"/>
          </a:xfrm>
          <a:prstGeom prst="rect">
            <a:avLst/>
          </a:prstGeom>
          <a:noFill/>
          <a:ln/>
        </p:spPr>
        <p:txBody>
          <a:bodyPr wrap="square" lIns="255143" tIns="170053" rIns="255143" bIns="170053" rtlCol="0" anchor="t">
            <a:spAutoFit/>
          </a:bodyPr>
          <a:lstStyle/>
          <a:p>
            <a:pPr marL="0" indent="0" algn="l">
              <a:buNone/>
            </a:pPr>
            <a:r>
              <a:rPr lang="en-US" sz="1400" b="1" dirty="0">
                <a:solidFill>
                  <a:srgbClr val="FFFFFF"/>
                </a:solidFill>
                <a:latin typeface="Inter Bold" pitchFamily="34" charset="0"/>
                <a:ea typeface="Inter Bold" pitchFamily="34" charset="-122"/>
                <a:cs typeface="Inter Bold" pitchFamily="34" charset="-120"/>
              </a:rPr>
              <a:t>The "What Happened?"</a:t>
            </a:r>
            <a:endParaRPr lang="en-US" sz="1400" dirty="0"/>
          </a:p>
        </p:txBody>
      </p:sp>
      <p:pic>
        <p:nvPicPr>
          <p:cNvPr id="7" name="Image 1" descr="preencoded.png"/>
          <p:cNvPicPr>
            <a:picLocks noChangeAspect="1"/>
          </p:cNvPicPr>
          <p:nvPr/>
        </p:nvPicPr>
        <p:blipFill>
          <a:blip r:embed="rId4"/>
          <a:stretch>
            <a:fillRect/>
          </a:stretch>
        </p:blipFill>
        <p:spPr>
          <a:xfrm>
            <a:off x="857250" y="2395584"/>
            <a:ext cx="128588" cy="171450"/>
          </a:xfrm>
          <a:prstGeom prst="rect">
            <a:avLst/>
          </a:prstGeom>
        </p:spPr>
      </p:pic>
      <p:sp>
        <p:nvSpPr>
          <p:cNvPr id="8" name="Text 3"/>
          <p:cNvSpPr/>
          <p:nvPr/>
        </p:nvSpPr>
        <p:spPr>
          <a:xfrm>
            <a:off x="1092994" y="2292000"/>
            <a:ext cx="2920482" cy="378619"/>
          </a:xfrm>
          <a:prstGeom prst="rect">
            <a:avLst/>
          </a:prstGeom>
          <a:noFill/>
          <a:ln/>
        </p:spPr>
        <p:txBody>
          <a:bodyPr wrap="square" lIns="0" tIns="0" rIns="0" bIns="0" rtlCol="0" anchor="t">
            <a:spAutoFit/>
          </a:bodyPr>
          <a:lstStyle/>
          <a:p>
            <a:pPr marL="0" indent="0" algn="l">
              <a:buNone/>
            </a:pPr>
            <a:r>
              <a:rPr lang="en-US" sz="1150" dirty="0">
                <a:solidFill>
                  <a:srgbClr val="334155"/>
                </a:solidFill>
                <a:latin typeface="Inter" pitchFamily="34" charset="0"/>
                <a:ea typeface="Inter" pitchFamily="34" charset="-122"/>
                <a:cs typeface="Inter" pitchFamily="34" charset="-120"/>
              </a:rPr>
              <a:t>Contains </a:t>
            </a:r>
            <a:r>
              <a:rPr lang="en-US" sz="1100" b="1" dirty="0">
                <a:solidFill>
                  <a:srgbClr val="334155"/>
                </a:solidFill>
                <a:latin typeface="Inter Bold" pitchFamily="34" charset="0"/>
                <a:ea typeface="Inter Bold" pitchFamily="34" charset="-122"/>
                <a:cs typeface="Inter Bold" pitchFamily="34" charset="-120"/>
              </a:rPr>
              <a:t>numbers and metrics</a:t>
            </a:r>
            <a:r>
              <a:rPr lang="en-US" sz="1150" dirty="0">
                <a:solidFill>
                  <a:srgbClr val="334155"/>
                </a:solidFill>
                <a:latin typeface="Inter" pitchFamily="34" charset="0"/>
                <a:ea typeface="Inter" pitchFamily="34" charset="-122"/>
                <a:cs typeface="Inter" pitchFamily="34" charset="-120"/>
              </a:rPr>
              <a:t> (Sales, Quantity, Temperature).</a:t>
            </a:r>
            <a:endParaRPr lang="en-US" sz="1150" dirty="0"/>
          </a:p>
        </p:txBody>
      </p:sp>
      <p:pic>
        <p:nvPicPr>
          <p:cNvPr id="9" name="Image 2" descr="preencoded.png"/>
          <p:cNvPicPr>
            <a:picLocks noChangeAspect="1"/>
          </p:cNvPicPr>
          <p:nvPr/>
        </p:nvPicPr>
        <p:blipFill>
          <a:blip r:embed="rId5"/>
          <a:stretch>
            <a:fillRect/>
          </a:stretch>
        </p:blipFill>
        <p:spPr>
          <a:xfrm>
            <a:off x="857250" y="2952797"/>
            <a:ext cx="150019" cy="171450"/>
          </a:xfrm>
          <a:prstGeom prst="rect">
            <a:avLst/>
          </a:prstGeom>
        </p:spPr>
      </p:pic>
      <p:sp>
        <p:nvSpPr>
          <p:cNvPr id="10" name="Text 4"/>
          <p:cNvSpPr/>
          <p:nvPr/>
        </p:nvSpPr>
        <p:spPr>
          <a:xfrm>
            <a:off x="1114425" y="2849212"/>
            <a:ext cx="2899051" cy="378619"/>
          </a:xfrm>
          <a:prstGeom prst="rect">
            <a:avLst/>
          </a:prstGeom>
          <a:noFill/>
          <a:ln/>
        </p:spPr>
        <p:txBody>
          <a:bodyPr wrap="square" lIns="0" tIns="0" rIns="0" bIns="0" rtlCol="0" anchor="t">
            <a:spAutoFit/>
          </a:bodyPr>
          <a:lstStyle/>
          <a:p>
            <a:pPr marL="0" indent="0" algn="l">
              <a:buNone/>
            </a:pPr>
            <a:r>
              <a:rPr lang="en-US" sz="1150" dirty="0">
                <a:solidFill>
                  <a:srgbClr val="334155"/>
                </a:solidFill>
                <a:latin typeface="Inter" pitchFamily="34" charset="0"/>
                <a:ea typeface="Inter" pitchFamily="34" charset="-122"/>
                <a:cs typeface="Inter" pitchFamily="34" charset="-120"/>
              </a:rPr>
              <a:t>Records </a:t>
            </a:r>
            <a:r>
              <a:rPr lang="en-US" sz="1100" b="1" dirty="0">
                <a:solidFill>
                  <a:srgbClr val="334155"/>
                </a:solidFill>
                <a:latin typeface="Inter Bold" pitchFamily="34" charset="0"/>
                <a:ea typeface="Inter Bold" pitchFamily="34" charset="-122"/>
                <a:cs typeface="Inter Bold" pitchFamily="34" charset="-120"/>
              </a:rPr>
              <a:t>specific events</a:t>
            </a:r>
            <a:r>
              <a:rPr lang="en-US" sz="1150" dirty="0">
                <a:solidFill>
                  <a:srgbClr val="334155"/>
                </a:solidFill>
                <a:latin typeface="Inter" pitchFamily="34" charset="0"/>
                <a:ea typeface="Inter" pitchFamily="34" charset="-122"/>
                <a:cs typeface="Inter" pitchFamily="34" charset="-120"/>
              </a:rPr>
              <a:t> at a point in time.</a:t>
            </a:r>
            <a:endParaRPr lang="en-US" sz="1150" dirty="0"/>
          </a:p>
        </p:txBody>
      </p:sp>
      <p:pic>
        <p:nvPicPr>
          <p:cNvPr id="11" name="Image 3" descr="preencoded.png"/>
          <p:cNvPicPr>
            <a:picLocks noChangeAspect="1"/>
          </p:cNvPicPr>
          <p:nvPr/>
        </p:nvPicPr>
        <p:blipFill>
          <a:blip r:embed="rId6"/>
          <a:stretch>
            <a:fillRect/>
          </a:stretch>
        </p:blipFill>
        <p:spPr>
          <a:xfrm>
            <a:off x="857250" y="3510009"/>
            <a:ext cx="171450" cy="171450"/>
          </a:xfrm>
          <a:prstGeom prst="rect">
            <a:avLst/>
          </a:prstGeom>
        </p:spPr>
      </p:pic>
      <p:sp>
        <p:nvSpPr>
          <p:cNvPr id="12" name="Text 5"/>
          <p:cNvSpPr/>
          <p:nvPr/>
        </p:nvSpPr>
        <p:spPr>
          <a:xfrm>
            <a:off x="1135856" y="3406425"/>
            <a:ext cx="2877620" cy="378619"/>
          </a:xfrm>
          <a:prstGeom prst="rect">
            <a:avLst/>
          </a:prstGeom>
          <a:noFill/>
          <a:ln/>
        </p:spPr>
        <p:txBody>
          <a:bodyPr wrap="square" lIns="0" tIns="0" rIns="0" bIns="0" rtlCol="0" anchor="t">
            <a:spAutoFit/>
          </a:bodyPr>
          <a:lstStyle/>
          <a:p>
            <a:pPr marL="0" indent="0" algn="l">
              <a:buNone/>
            </a:pPr>
            <a:r>
              <a:rPr lang="en-US" sz="1150" dirty="0">
                <a:solidFill>
                  <a:srgbClr val="334155"/>
                </a:solidFill>
                <a:latin typeface="Inter" pitchFamily="34" charset="0"/>
                <a:ea typeface="Inter" pitchFamily="34" charset="-122"/>
                <a:cs typeface="Inter" pitchFamily="34" charset="-120"/>
              </a:rPr>
              <a:t>Usually the </a:t>
            </a:r>
            <a:r>
              <a:rPr lang="en-US" sz="1100" b="1" dirty="0">
                <a:solidFill>
                  <a:srgbClr val="334155"/>
                </a:solidFill>
                <a:latin typeface="Inter Bold" pitchFamily="34" charset="0"/>
                <a:ea typeface="Inter Bold" pitchFamily="34" charset="-122"/>
                <a:cs typeface="Inter Bold" pitchFamily="34" charset="-120"/>
              </a:rPr>
              <a:t>largest table</a:t>
            </a:r>
            <a:r>
              <a:rPr lang="en-US" sz="1150" dirty="0">
                <a:solidFill>
                  <a:srgbClr val="334155"/>
                </a:solidFill>
                <a:latin typeface="Inter" pitchFamily="34" charset="0"/>
                <a:ea typeface="Inter" pitchFamily="34" charset="-122"/>
                <a:cs typeface="Inter" pitchFamily="34" charset="-120"/>
              </a:rPr>
              <a:t> in your model.</a:t>
            </a:r>
            <a:endParaRPr lang="en-US" sz="1150" dirty="0"/>
          </a:p>
        </p:txBody>
      </p:sp>
      <p:sp>
        <p:nvSpPr>
          <p:cNvPr id="13" name="Text 6"/>
          <p:cNvSpPr/>
          <p:nvPr/>
        </p:nvSpPr>
        <p:spPr>
          <a:xfrm>
            <a:off x="4442101" y="1477612"/>
            <a:ext cx="4130399" cy="121444"/>
          </a:xfrm>
          <a:prstGeom prst="rect">
            <a:avLst/>
          </a:prstGeom>
          <a:noFill/>
          <a:ln/>
        </p:spPr>
        <p:txBody>
          <a:bodyPr wrap="square" lIns="0" tIns="0" rIns="0" bIns="0" rtlCol="0" anchor="t">
            <a:spAutoFit/>
          </a:bodyPr>
          <a:lstStyle/>
          <a:p>
            <a:pPr marL="0" indent="0" algn="l">
              <a:buNone/>
            </a:pPr>
            <a:r>
              <a:rPr lang="en-US" sz="700" b="1" kern="0" spc="1" dirty="0">
                <a:solidFill>
                  <a:srgbClr val="64748B"/>
                </a:solidFill>
                <a:latin typeface="Inter Bold" pitchFamily="34" charset="0"/>
                <a:ea typeface="Inter Bold" pitchFamily="34" charset="-122"/>
                <a:cs typeface="Inter Bold" pitchFamily="34" charset="-120"/>
              </a:rPr>
              <a:t>EXAMPLE: FACT_SALES</a:t>
            </a:r>
            <a:endParaRPr lang="en-US" sz="700" dirty="0"/>
          </a:p>
        </p:txBody>
      </p:sp>
      <p:sp>
        <p:nvSpPr>
          <p:cNvPr id="14" name="Shape 7"/>
          <p:cNvSpPr/>
          <p:nvPr/>
        </p:nvSpPr>
        <p:spPr>
          <a:xfrm>
            <a:off x="4442101" y="1670493"/>
            <a:ext cx="4130399" cy="1428750"/>
          </a:xfrm>
          <a:prstGeom prst="rect">
            <a:avLst/>
          </a:prstGeom>
          <a:solidFill>
            <a:srgbClr val="FFFFFF"/>
          </a:solidFill>
          <a:ln/>
        </p:spPr>
        <p:txBody>
          <a:bodyPr/>
          <a:lstStyle/>
          <a:p>
            <a:endParaRPr lang="en-GB"/>
          </a:p>
        </p:txBody>
      </p:sp>
      <p:sp>
        <p:nvSpPr>
          <p:cNvPr id="15" name="Shape 8"/>
          <p:cNvSpPr/>
          <p:nvPr/>
        </p:nvSpPr>
        <p:spPr>
          <a:xfrm>
            <a:off x="4442101" y="1670493"/>
            <a:ext cx="1183267" cy="355402"/>
          </a:xfrm>
          <a:prstGeom prst="rect">
            <a:avLst/>
          </a:prstGeom>
          <a:solidFill>
            <a:srgbClr val="F1F5F9"/>
          </a:solidFill>
          <a:ln/>
        </p:spPr>
        <p:txBody>
          <a:bodyPr/>
          <a:lstStyle/>
          <a:p>
            <a:endParaRPr lang="en-GB"/>
          </a:p>
        </p:txBody>
      </p:sp>
      <p:sp>
        <p:nvSpPr>
          <p:cNvPr id="16" name="Text 9"/>
          <p:cNvSpPr/>
          <p:nvPr/>
        </p:nvSpPr>
        <p:spPr>
          <a:xfrm>
            <a:off x="4442101" y="1670493"/>
            <a:ext cx="1183267" cy="355402"/>
          </a:xfrm>
          <a:prstGeom prst="rect">
            <a:avLst/>
          </a:prstGeom>
          <a:noFill/>
          <a:ln/>
        </p:spPr>
        <p:txBody>
          <a:bodyPr wrap="none" lIns="127508" tIns="127508" rIns="127508" bIns="127508" rtlCol="0" anchor="ctr">
            <a:spAutoFit/>
          </a:bodyPr>
          <a:lstStyle/>
          <a:p>
            <a:pPr marL="0" indent="0" algn="l">
              <a:buNone/>
            </a:pPr>
            <a:r>
              <a:rPr lang="en-US" sz="800" b="1" dirty="0">
                <a:solidFill>
                  <a:srgbClr val="475569"/>
                </a:solidFill>
                <a:latin typeface="Inter Bold" pitchFamily="34" charset="0"/>
                <a:ea typeface="Inter Bold" pitchFamily="34" charset="-122"/>
                <a:cs typeface="Inter Bold" pitchFamily="34" charset="-120"/>
              </a:rPr>
              <a:t>Date</a:t>
            </a:r>
            <a:endParaRPr lang="en-US" sz="800" dirty="0"/>
          </a:p>
        </p:txBody>
      </p:sp>
      <p:sp>
        <p:nvSpPr>
          <p:cNvPr id="17" name="Shape 10"/>
          <p:cNvSpPr/>
          <p:nvPr/>
        </p:nvSpPr>
        <p:spPr>
          <a:xfrm>
            <a:off x="5625368" y="1670493"/>
            <a:ext cx="1055350" cy="355402"/>
          </a:xfrm>
          <a:prstGeom prst="rect">
            <a:avLst/>
          </a:prstGeom>
          <a:solidFill>
            <a:srgbClr val="F1F5F9"/>
          </a:solidFill>
          <a:ln/>
        </p:spPr>
        <p:txBody>
          <a:bodyPr/>
          <a:lstStyle/>
          <a:p>
            <a:endParaRPr lang="en-GB"/>
          </a:p>
        </p:txBody>
      </p:sp>
      <p:sp>
        <p:nvSpPr>
          <p:cNvPr id="18" name="Text 11"/>
          <p:cNvSpPr/>
          <p:nvPr/>
        </p:nvSpPr>
        <p:spPr>
          <a:xfrm>
            <a:off x="5625368" y="1670493"/>
            <a:ext cx="1055350" cy="355402"/>
          </a:xfrm>
          <a:prstGeom prst="rect">
            <a:avLst/>
          </a:prstGeom>
          <a:noFill/>
          <a:ln/>
        </p:spPr>
        <p:txBody>
          <a:bodyPr wrap="none" lIns="127508" tIns="127508" rIns="127508" bIns="127508" rtlCol="0" anchor="ctr">
            <a:spAutoFit/>
          </a:bodyPr>
          <a:lstStyle/>
          <a:p>
            <a:pPr marL="0" indent="0" algn="l">
              <a:buNone/>
            </a:pPr>
            <a:r>
              <a:rPr lang="en-US" sz="800" b="1" dirty="0">
                <a:solidFill>
                  <a:srgbClr val="475569"/>
                </a:solidFill>
                <a:latin typeface="Inter Bold" pitchFamily="34" charset="0"/>
                <a:ea typeface="Inter Bold" pitchFamily="34" charset="-122"/>
                <a:cs typeface="Inter Bold" pitchFamily="34" charset="-120"/>
              </a:rPr>
              <a:t>ProductID</a:t>
            </a:r>
            <a:endParaRPr lang="en-US" sz="800" dirty="0"/>
          </a:p>
        </p:txBody>
      </p:sp>
      <p:sp>
        <p:nvSpPr>
          <p:cNvPr id="19" name="Shape 12"/>
          <p:cNvSpPr/>
          <p:nvPr/>
        </p:nvSpPr>
        <p:spPr>
          <a:xfrm>
            <a:off x="6680718" y="1670493"/>
            <a:ext cx="959411" cy="355402"/>
          </a:xfrm>
          <a:prstGeom prst="rect">
            <a:avLst/>
          </a:prstGeom>
          <a:solidFill>
            <a:srgbClr val="10B981">
              <a:alpha val="10000"/>
            </a:srgbClr>
          </a:solidFill>
          <a:ln/>
        </p:spPr>
        <p:txBody>
          <a:bodyPr/>
          <a:lstStyle/>
          <a:p>
            <a:endParaRPr lang="en-GB"/>
          </a:p>
        </p:txBody>
      </p:sp>
      <p:sp>
        <p:nvSpPr>
          <p:cNvPr id="20" name="Text 13"/>
          <p:cNvSpPr/>
          <p:nvPr/>
        </p:nvSpPr>
        <p:spPr>
          <a:xfrm>
            <a:off x="6680718" y="1670493"/>
            <a:ext cx="959411" cy="355402"/>
          </a:xfrm>
          <a:prstGeom prst="rect">
            <a:avLst/>
          </a:prstGeom>
          <a:noFill/>
          <a:ln/>
        </p:spPr>
        <p:txBody>
          <a:bodyPr wrap="none" lIns="127508" tIns="127508" rIns="127508" bIns="127508" rtlCol="0" anchor="ctr">
            <a:spAutoFit/>
          </a:bodyPr>
          <a:lstStyle/>
          <a:p>
            <a:pPr marL="0" indent="0" algn="l">
              <a:buNone/>
            </a:pPr>
            <a:r>
              <a:rPr lang="en-US" sz="800" b="1" dirty="0">
                <a:solidFill>
                  <a:srgbClr val="059669"/>
                </a:solidFill>
                <a:latin typeface="Inter Bold" pitchFamily="34" charset="0"/>
                <a:ea typeface="Inter Bold" pitchFamily="34" charset="-122"/>
                <a:cs typeface="Inter Bold" pitchFamily="34" charset="-120"/>
              </a:rPr>
              <a:t>Quantity</a:t>
            </a:r>
            <a:endParaRPr lang="en-US" sz="800" dirty="0"/>
          </a:p>
        </p:txBody>
      </p:sp>
      <p:sp>
        <p:nvSpPr>
          <p:cNvPr id="21" name="Shape 14"/>
          <p:cNvSpPr/>
          <p:nvPr/>
        </p:nvSpPr>
        <p:spPr>
          <a:xfrm>
            <a:off x="7640129" y="1670493"/>
            <a:ext cx="932371" cy="355402"/>
          </a:xfrm>
          <a:prstGeom prst="rect">
            <a:avLst/>
          </a:prstGeom>
          <a:solidFill>
            <a:srgbClr val="10B981">
              <a:alpha val="10000"/>
            </a:srgbClr>
          </a:solidFill>
          <a:ln/>
        </p:spPr>
        <p:txBody>
          <a:bodyPr/>
          <a:lstStyle/>
          <a:p>
            <a:endParaRPr lang="en-GB"/>
          </a:p>
        </p:txBody>
      </p:sp>
      <p:sp>
        <p:nvSpPr>
          <p:cNvPr id="22" name="Text 15"/>
          <p:cNvSpPr/>
          <p:nvPr/>
        </p:nvSpPr>
        <p:spPr>
          <a:xfrm>
            <a:off x="7640129" y="1670493"/>
            <a:ext cx="932371" cy="355402"/>
          </a:xfrm>
          <a:prstGeom prst="rect">
            <a:avLst/>
          </a:prstGeom>
          <a:noFill/>
          <a:ln/>
        </p:spPr>
        <p:txBody>
          <a:bodyPr wrap="none" lIns="127508" tIns="127508" rIns="127508" bIns="127508" rtlCol="0" anchor="ctr">
            <a:spAutoFit/>
          </a:bodyPr>
          <a:lstStyle/>
          <a:p>
            <a:pPr marL="0" indent="0" algn="l">
              <a:buNone/>
            </a:pPr>
            <a:r>
              <a:rPr lang="en-US" sz="800" b="1" dirty="0">
                <a:solidFill>
                  <a:srgbClr val="059669"/>
                </a:solidFill>
                <a:latin typeface="Inter Bold" pitchFamily="34" charset="0"/>
                <a:ea typeface="Inter Bold" pitchFamily="34" charset="-122"/>
                <a:cs typeface="Inter Bold" pitchFamily="34" charset="-120"/>
              </a:rPr>
              <a:t>Total ($)</a:t>
            </a:r>
            <a:endParaRPr lang="en-US" sz="800" dirty="0"/>
          </a:p>
        </p:txBody>
      </p:sp>
      <p:sp>
        <p:nvSpPr>
          <p:cNvPr id="23" name="Text 16"/>
          <p:cNvSpPr/>
          <p:nvPr/>
        </p:nvSpPr>
        <p:spPr>
          <a:xfrm>
            <a:off x="4442101" y="2025895"/>
            <a:ext cx="1183267" cy="358973"/>
          </a:xfrm>
          <a:prstGeom prst="rect">
            <a:avLst/>
          </a:prstGeom>
          <a:noFill/>
          <a:ln/>
        </p:spPr>
        <p:txBody>
          <a:bodyPr wrap="none" lIns="127508" tIns="127508" rIns="127508" bIns="127508" rtlCol="0" anchor="ctr">
            <a:spAutoFit/>
          </a:bodyPr>
          <a:lstStyle/>
          <a:p>
            <a:pPr marL="0" indent="0" algn="l">
              <a:buNone/>
            </a:pPr>
            <a:r>
              <a:rPr lang="en-US" sz="850" dirty="0">
                <a:solidFill>
                  <a:srgbClr val="334155"/>
                </a:solidFill>
                <a:latin typeface="Inter" pitchFamily="34" charset="0"/>
                <a:ea typeface="Inter" pitchFamily="34" charset="-122"/>
                <a:cs typeface="Inter" pitchFamily="34" charset="-120"/>
              </a:rPr>
              <a:t>2023-01-01</a:t>
            </a:r>
            <a:endParaRPr lang="en-US" sz="850" dirty="0"/>
          </a:p>
        </p:txBody>
      </p:sp>
      <p:sp>
        <p:nvSpPr>
          <p:cNvPr id="24" name="Text 17"/>
          <p:cNvSpPr/>
          <p:nvPr/>
        </p:nvSpPr>
        <p:spPr>
          <a:xfrm>
            <a:off x="5625368" y="2025895"/>
            <a:ext cx="1055350" cy="358973"/>
          </a:xfrm>
          <a:prstGeom prst="rect">
            <a:avLst/>
          </a:prstGeom>
          <a:noFill/>
          <a:ln/>
        </p:spPr>
        <p:txBody>
          <a:bodyPr wrap="none" lIns="127508" tIns="127508" rIns="127508" bIns="127508" rtlCol="0" anchor="ctr">
            <a:spAutoFit/>
          </a:bodyPr>
          <a:lstStyle/>
          <a:p>
            <a:pPr marL="0" indent="0" algn="l">
              <a:buNone/>
            </a:pPr>
            <a:r>
              <a:rPr lang="en-US" sz="850" dirty="0">
                <a:solidFill>
                  <a:srgbClr val="334155"/>
                </a:solidFill>
                <a:latin typeface="Inter" pitchFamily="34" charset="0"/>
                <a:ea typeface="Inter" pitchFamily="34" charset="-122"/>
                <a:cs typeface="Inter" pitchFamily="34" charset="-120"/>
              </a:rPr>
              <a:t>P01</a:t>
            </a:r>
            <a:endParaRPr lang="en-US" sz="850" dirty="0"/>
          </a:p>
        </p:txBody>
      </p:sp>
      <p:sp>
        <p:nvSpPr>
          <p:cNvPr id="25" name="Shape 18"/>
          <p:cNvSpPr/>
          <p:nvPr/>
        </p:nvSpPr>
        <p:spPr>
          <a:xfrm>
            <a:off x="6680718" y="2025895"/>
            <a:ext cx="959411" cy="358973"/>
          </a:xfrm>
          <a:prstGeom prst="rect">
            <a:avLst/>
          </a:prstGeom>
          <a:solidFill>
            <a:srgbClr val="10B981">
              <a:alpha val="10000"/>
            </a:srgbClr>
          </a:solidFill>
          <a:ln/>
        </p:spPr>
        <p:txBody>
          <a:bodyPr/>
          <a:lstStyle/>
          <a:p>
            <a:endParaRPr lang="en-GB"/>
          </a:p>
        </p:txBody>
      </p:sp>
      <p:sp>
        <p:nvSpPr>
          <p:cNvPr id="26" name="Shape 19"/>
          <p:cNvSpPr/>
          <p:nvPr/>
        </p:nvSpPr>
        <p:spPr>
          <a:xfrm>
            <a:off x="6680718" y="2025895"/>
            <a:ext cx="959411" cy="7144"/>
          </a:xfrm>
          <a:prstGeom prst="rect">
            <a:avLst/>
          </a:prstGeom>
          <a:solidFill>
            <a:srgbClr val="E2E8F0"/>
          </a:solidFill>
          <a:ln/>
        </p:spPr>
        <p:txBody>
          <a:bodyPr/>
          <a:lstStyle/>
          <a:p>
            <a:endParaRPr lang="en-GB"/>
          </a:p>
        </p:txBody>
      </p:sp>
      <p:sp>
        <p:nvSpPr>
          <p:cNvPr id="27" name="Text 20"/>
          <p:cNvSpPr/>
          <p:nvPr/>
        </p:nvSpPr>
        <p:spPr>
          <a:xfrm>
            <a:off x="6680718" y="2025895"/>
            <a:ext cx="959411" cy="358973"/>
          </a:xfrm>
          <a:prstGeom prst="rect">
            <a:avLst/>
          </a:prstGeom>
          <a:noFill/>
          <a:ln/>
        </p:spPr>
        <p:txBody>
          <a:bodyPr wrap="none" lIns="127508" tIns="127508" rIns="127508" bIns="127508" rtlCol="0" anchor="ctr">
            <a:spAutoFit/>
          </a:bodyPr>
          <a:lstStyle/>
          <a:p>
            <a:pPr marL="0" indent="0" algn="l">
              <a:buNone/>
            </a:pPr>
            <a:r>
              <a:rPr lang="en-US" sz="800" b="1" dirty="0">
                <a:solidFill>
                  <a:srgbClr val="059669"/>
                </a:solidFill>
                <a:latin typeface="Inter Bold" pitchFamily="34" charset="0"/>
                <a:ea typeface="Inter Bold" pitchFamily="34" charset="-122"/>
                <a:cs typeface="Inter Bold" pitchFamily="34" charset="-120"/>
              </a:rPr>
              <a:t>1</a:t>
            </a:r>
            <a:endParaRPr lang="en-US" sz="800" dirty="0"/>
          </a:p>
        </p:txBody>
      </p:sp>
      <p:sp>
        <p:nvSpPr>
          <p:cNvPr id="28" name="Shape 21"/>
          <p:cNvSpPr/>
          <p:nvPr/>
        </p:nvSpPr>
        <p:spPr>
          <a:xfrm>
            <a:off x="7640129" y="2025895"/>
            <a:ext cx="932371" cy="358973"/>
          </a:xfrm>
          <a:prstGeom prst="rect">
            <a:avLst/>
          </a:prstGeom>
          <a:solidFill>
            <a:srgbClr val="10B981">
              <a:alpha val="10000"/>
            </a:srgbClr>
          </a:solidFill>
          <a:ln/>
        </p:spPr>
        <p:txBody>
          <a:bodyPr/>
          <a:lstStyle/>
          <a:p>
            <a:endParaRPr lang="en-GB"/>
          </a:p>
        </p:txBody>
      </p:sp>
      <p:sp>
        <p:nvSpPr>
          <p:cNvPr id="29" name="Shape 22"/>
          <p:cNvSpPr/>
          <p:nvPr/>
        </p:nvSpPr>
        <p:spPr>
          <a:xfrm>
            <a:off x="7640129" y="2025895"/>
            <a:ext cx="932371" cy="7144"/>
          </a:xfrm>
          <a:prstGeom prst="rect">
            <a:avLst/>
          </a:prstGeom>
          <a:solidFill>
            <a:srgbClr val="E2E8F0"/>
          </a:solidFill>
          <a:ln/>
        </p:spPr>
        <p:txBody>
          <a:bodyPr/>
          <a:lstStyle/>
          <a:p>
            <a:endParaRPr lang="en-GB"/>
          </a:p>
        </p:txBody>
      </p:sp>
      <p:sp>
        <p:nvSpPr>
          <p:cNvPr id="30" name="Text 23"/>
          <p:cNvSpPr/>
          <p:nvPr/>
        </p:nvSpPr>
        <p:spPr>
          <a:xfrm>
            <a:off x="7640129" y="2025895"/>
            <a:ext cx="932371" cy="358973"/>
          </a:xfrm>
          <a:prstGeom prst="rect">
            <a:avLst/>
          </a:prstGeom>
          <a:noFill/>
          <a:ln/>
        </p:spPr>
        <p:txBody>
          <a:bodyPr wrap="none" lIns="127508" tIns="127508" rIns="127508" bIns="127508" rtlCol="0" anchor="ctr">
            <a:spAutoFit/>
          </a:bodyPr>
          <a:lstStyle/>
          <a:p>
            <a:pPr marL="0" indent="0" algn="l">
              <a:buNone/>
            </a:pPr>
            <a:r>
              <a:rPr lang="en-US" sz="800" b="1" dirty="0">
                <a:solidFill>
                  <a:srgbClr val="059669"/>
                </a:solidFill>
                <a:latin typeface="Inter Bold" pitchFamily="34" charset="0"/>
                <a:ea typeface="Inter Bold" pitchFamily="34" charset="-122"/>
                <a:cs typeface="Inter Bold" pitchFamily="34" charset="-120"/>
              </a:rPr>
              <a:t>1,200</a:t>
            </a:r>
            <a:endParaRPr lang="en-US" sz="800" dirty="0"/>
          </a:p>
        </p:txBody>
      </p:sp>
      <p:sp>
        <p:nvSpPr>
          <p:cNvPr id="31" name="Text 24"/>
          <p:cNvSpPr/>
          <p:nvPr/>
        </p:nvSpPr>
        <p:spPr>
          <a:xfrm>
            <a:off x="4442101" y="2384868"/>
            <a:ext cx="1183267" cy="358973"/>
          </a:xfrm>
          <a:prstGeom prst="rect">
            <a:avLst/>
          </a:prstGeom>
          <a:noFill/>
          <a:ln/>
        </p:spPr>
        <p:txBody>
          <a:bodyPr wrap="none" lIns="127508" tIns="127508" rIns="127508" bIns="127508" rtlCol="0" anchor="ctr">
            <a:spAutoFit/>
          </a:bodyPr>
          <a:lstStyle/>
          <a:p>
            <a:pPr marL="0" indent="0" algn="l">
              <a:buNone/>
            </a:pPr>
            <a:r>
              <a:rPr lang="en-US" sz="850" dirty="0">
                <a:solidFill>
                  <a:srgbClr val="334155"/>
                </a:solidFill>
                <a:latin typeface="Inter" pitchFamily="34" charset="0"/>
                <a:ea typeface="Inter" pitchFamily="34" charset="-122"/>
                <a:cs typeface="Inter" pitchFamily="34" charset="-120"/>
              </a:rPr>
              <a:t>2023-01-02</a:t>
            </a:r>
            <a:endParaRPr lang="en-US" sz="850" dirty="0"/>
          </a:p>
        </p:txBody>
      </p:sp>
      <p:sp>
        <p:nvSpPr>
          <p:cNvPr id="32" name="Text 25"/>
          <p:cNvSpPr/>
          <p:nvPr/>
        </p:nvSpPr>
        <p:spPr>
          <a:xfrm>
            <a:off x="5625368" y="2384868"/>
            <a:ext cx="1055350" cy="358973"/>
          </a:xfrm>
          <a:prstGeom prst="rect">
            <a:avLst/>
          </a:prstGeom>
          <a:noFill/>
          <a:ln/>
        </p:spPr>
        <p:txBody>
          <a:bodyPr wrap="none" lIns="127508" tIns="127508" rIns="127508" bIns="127508" rtlCol="0" anchor="ctr">
            <a:spAutoFit/>
          </a:bodyPr>
          <a:lstStyle/>
          <a:p>
            <a:pPr marL="0" indent="0" algn="l">
              <a:buNone/>
            </a:pPr>
            <a:r>
              <a:rPr lang="en-US" sz="850" dirty="0">
                <a:solidFill>
                  <a:srgbClr val="334155"/>
                </a:solidFill>
                <a:latin typeface="Inter" pitchFamily="34" charset="0"/>
                <a:ea typeface="Inter" pitchFamily="34" charset="-122"/>
                <a:cs typeface="Inter" pitchFamily="34" charset="-120"/>
              </a:rPr>
              <a:t>P02</a:t>
            </a:r>
            <a:endParaRPr lang="en-US" sz="850" dirty="0"/>
          </a:p>
        </p:txBody>
      </p:sp>
      <p:sp>
        <p:nvSpPr>
          <p:cNvPr id="33" name="Shape 26"/>
          <p:cNvSpPr/>
          <p:nvPr/>
        </p:nvSpPr>
        <p:spPr>
          <a:xfrm>
            <a:off x="6680718" y="2384868"/>
            <a:ext cx="959411" cy="358973"/>
          </a:xfrm>
          <a:prstGeom prst="rect">
            <a:avLst/>
          </a:prstGeom>
          <a:solidFill>
            <a:srgbClr val="10B981">
              <a:alpha val="10000"/>
            </a:srgbClr>
          </a:solidFill>
          <a:ln/>
        </p:spPr>
        <p:txBody>
          <a:bodyPr/>
          <a:lstStyle/>
          <a:p>
            <a:endParaRPr lang="en-GB"/>
          </a:p>
        </p:txBody>
      </p:sp>
      <p:sp>
        <p:nvSpPr>
          <p:cNvPr id="34" name="Shape 27"/>
          <p:cNvSpPr/>
          <p:nvPr/>
        </p:nvSpPr>
        <p:spPr>
          <a:xfrm>
            <a:off x="6680718" y="2384868"/>
            <a:ext cx="959411" cy="7144"/>
          </a:xfrm>
          <a:prstGeom prst="rect">
            <a:avLst/>
          </a:prstGeom>
          <a:solidFill>
            <a:srgbClr val="E2E8F0"/>
          </a:solidFill>
          <a:ln/>
        </p:spPr>
        <p:txBody>
          <a:bodyPr/>
          <a:lstStyle/>
          <a:p>
            <a:endParaRPr lang="en-GB"/>
          </a:p>
        </p:txBody>
      </p:sp>
      <p:sp>
        <p:nvSpPr>
          <p:cNvPr id="35" name="Text 28"/>
          <p:cNvSpPr/>
          <p:nvPr/>
        </p:nvSpPr>
        <p:spPr>
          <a:xfrm>
            <a:off x="6680718" y="2384868"/>
            <a:ext cx="959411" cy="358973"/>
          </a:xfrm>
          <a:prstGeom prst="rect">
            <a:avLst/>
          </a:prstGeom>
          <a:noFill/>
          <a:ln/>
        </p:spPr>
        <p:txBody>
          <a:bodyPr wrap="none" lIns="127508" tIns="127508" rIns="127508" bIns="127508" rtlCol="0" anchor="ctr">
            <a:spAutoFit/>
          </a:bodyPr>
          <a:lstStyle/>
          <a:p>
            <a:pPr marL="0" indent="0" algn="l">
              <a:buNone/>
            </a:pPr>
            <a:r>
              <a:rPr lang="en-US" sz="800" b="1" dirty="0">
                <a:solidFill>
                  <a:srgbClr val="059669"/>
                </a:solidFill>
                <a:latin typeface="Inter Bold" pitchFamily="34" charset="0"/>
                <a:ea typeface="Inter Bold" pitchFamily="34" charset="-122"/>
                <a:cs typeface="Inter Bold" pitchFamily="34" charset="-120"/>
              </a:rPr>
              <a:t>2</a:t>
            </a:r>
            <a:endParaRPr lang="en-US" sz="800" dirty="0"/>
          </a:p>
        </p:txBody>
      </p:sp>
      <p:sp>
        <p:nvSpPr>
          <p:cNvPr id="36" name="Shape 29"/>
          <p:cNvSpPr/>
          <p:nvPr/>
        </p:nvSpPr>
        <p:spPr>
          <a:xfrm>
            <a:off x="7640129" y="2384868"/>
            <a:ext cx="932371" cy="358973"/>
          </a:xfrm>
          <a:prstGeom prst="rect">
            <a:avLst/>
          </a:prstGeom>
          <a:solidFill>
            <a:srgbClr val="10B981">
              <a:alpha val="10000"/>
            </a:srgbClr>
          </a:solidFill>
          <a:ln/>
        </p:spPr>
        <p:txBody>
          <a:bodyPr/>
          <a:lstStyle/>
          <a:p>
            <a:endParaRPr lang="en-GB"/>
          </a:p>
        </p:txBody>
      </p:sp>
      <p:sp>
        <p:nvSpPr>
          <p:cNvPr id="37" name="Shape 30"/>
          <p:cNvSpPr/>
          <p:nvPr/>
        </p:nvSpPr>
        <p:spPr>
          <a:xfrm>
            <a:off x="7640129" y="2384868"/>
            <a:ext cx="932371" cy="7144"/>
          </a:xfrm>
          <a:prstGeom prst="rect">
            <a:avLst/>
          </a:prstGeom>
          <a:solidFill>
            <a:srgbClr val="E2E8F0"/>
          </a:solidFill>
          <a:ln/>
        </p:spPr>
        <p:txBody>
          <a:bodyPr/>
          <a:lstStyle/>
          <a:p>
            <a:endParaRPr lang="en-GB"/>
          </a:p>
        </p:txBody>
      </p:sp>
      <p:sp>
        <p:nvSpPr>
          <p:cNvPr id="38" name="Text 31"/>
          <p:cNvSpPr/>
          <p:nvPr/>
        </p:nvSpPr>
        <p:spPr>
          <a:xfrm>
            <a:off x="7640129" y="2384868"/>
            <a:ext cx="932371" cy="358973"/>
          </a:xfrm>
          <a:prstGeom prst="rect">
            <a:avLst/>
          </a:prstGeom>
          <a:noFill/>
          <a:ln/>
        </p:spPr>
        <p:txBody>
          <a:bodyPr wrap="none" lIns="127508" tIns="127508" rIns="127508" bIns="127508" rtlCol="0" anchor="ctr">
            <a:spAutoFit/>
          </a:bodyPr>
          <a:lstStyle/>
          <a:p>
            <a:pPr marL="0" indent="0" algn="l">
              <a:buNone/>
            </a:pPr>
            <a:r>
              <a:rPr lang="en-US" sz="800" b="1" dirty="0">
                <a:solidFill>
                  <a:srgbClr val="059669"/>
                </a:solidFill>
                <a:latin typeface="Inter Bold" pitchFamily="34" charset="0"/>
                <a:ea typeface="Inter Bold" pitchFamily="34" charset="-122"/>
                <a:cs typeface="Inter Bold" pitchFamily="34" charset="-120"/>
              </a:rPr>
              <a:t>50</a:t>
            </a:r>
            <a:endParaRPr lang="en-US" sz="800" dirty="0"/>
          </a:p>
        </p:txBody>
      </p:sp>
      <p:sp>
        <p:nvSpPr>
          <p:cNvPr id="39" name="Text 32"/>
          <p:cNvSpPr/>
          <p:nvPr/>
        </p:nvSpPr>
        <p:spPr>
          <a:xfrm>
            <a:off x="4442101" y="2743842"/>
            <a:ext cx="1183267" cy="355402"/>
          </a:xfrm>
          <a:prstGeom prst="rect">
            <a:avLst/>
          </a:prstGeom>
          <a:noFill/>
          <a:ln/>
        </p:spPr>
        <p:txBody>
          <a:bodyPr wrap="none" lIns="127508" tIns="127508" rIns="127508" bIns="127508" rtlCol="0" anchor="ctr">
            <a:spAutoFit/>
          </a:bodyPr>
          <a:lstStyle/>
          <a:p>
            <a:pPr marL="0" indent="0" algn="l">
              <a:buNone/>
            </a:pPr>
            <a:r>
              <a:rPr lang="en-US" sz="850" dirty="0">
                <a:solidFill>
                  <a:srgbClr val="334155"/>
                </a:solidFill>
                <a:latin typeface="Inter" pitchFamily="34" charset="0"/>
                <a:ea typeface="Inter" pitchFamily="34" charset="-122"/>
                <a:cs typeface="Inter" pitchFamily="34" charset="-120"/>
              </a:rPr>
              <a:t>2023-01-02</a:t>
            </a:r>
            <a:endParaRPr lang="en-US" sz="850" dirty="0"/>
          </a:p>
        </p:txBody>
      </p:sp>
      <p:sp>
        <p:nvSpPr>
          <p:cNvPr id="40" name="Text 33"/>
          <p:cNvSpPr/>
          <p:nvPr/>
        </p:nvSpPr>
        <p:spPr>
          <a:xfrm>
            <a:off x="5625368" y="2743842"/>
            <a:ext cx="1055350" cy="355402"/>
          </a:xfrm>
          <a:prstGeom prst="rect">
            <a:avLst/>
          </a:prstGeom>
          <a:noFill/>
          <a:ln/>
        </p:spPr>
        <p:txBody>
          <a:bodyPr wrap="none" lIns="127508" tIns="127508" rIns="127508" bIns="127508" rtlCol="0" anchor="ctr">
            <a:spAutoFit/>
          </a:bodyPr>
          <a:lstStyle/>
          <a:p>
            <a:pPr marL="0" indent="0" algn="l">
              <a:buNone/>
            </a:pPr>
            <a:r>
              <a:rPr lang="en-US" sz="850" dirty="0">
                <a:solidFill>
                  <a:srgbClr val="334155"/>
                </a:solidFill>
                <a:latin typeface="Inter" pitchFamily="34" charset="0"/>
                <a:ea typeface="Inter" pitchFamily="34" charset="-122"/>
                <a:cs typeface="Inter" pitchFamily="34" charset="-120"/>
              </a:rPr>
              <a:t>P02</a:t>
            </a:r>
            <a:endParaRPr lang="en-US" sz="850" dirty="0"/>
          </a:p>
        </p:txBody>
      </p:sp>
      <p:sp>
        <p:nvSpPr>
          <p:cNvPr id="41" name="Shape 34"/>
          <p:cNvSpPr/>
          <p:nvPr/>
        </p:nvSpPr>
        <p:spPr>
          <a:xfrm>
            <a:off x="6680718" y="2743842"/>
            <a:ext cx="959411" cy="355402"/>
          </a:xfrm>
          <a:prstGeom prst="rect">
            <a:avLst/>
          </a:prstGeom>
          <a:solidFill>
            <a:srgbClr val="10B981">
              <a:alpha val="10000"/>
            </a:srgbClr>
          </a:solidFill>
          <a:ln/>
        </p:spPr>
        <p:txBody>
          <a:bodyPr/>
          <a:lstStyle/>
          <a:p>
            <a:endParaRPr lang="en-GB"/>
          </a:p>
        </p:txBody>
      </p:sp>
      <p:sp>
        <p:nvSpPr>
          <p:cNvPr id="42" name="Shape 35"/>
          <p:cNvSpPr/>
          <p:nvPr/>
        </p:nvSpPr>
        <p:spPr>
          <a:xfrm>
            <a:off x="6680718" y="2743842"/>
            <a:ext cx="959411" cy="7144"/>
          </a:xfrm>
          <a:prstGeom prst="rect">
            <a:avLst/>
          </a:prstGeom>
          <a:solidFill>
            <a:srgbClr val="E2E8F0"/>
          </a:solidFill>
          <a:ln/>
        </p:spPr>
        <p:txBody>
          <a:bodyPr/>
          <a:lstStyle/>
          <a:p>
            <a:endParaRPr lang="en-GB"/>
          </a:p>
        </p:txBody>
      </p:sp>
      <p:sp>
        <p:nvSpPr>
          <p:cNvPr id="43" name="Text 36"/>
          <p:cNvSpPr/>
          <p:nvPr/>
        </p:nvSpPr>
        <p:spPr>
          <a:xfrm>
            <a:off x="6680718" y="2743842"/>
            <a:ext cx="959411" cy="355402"/>
          </a:xfrm>
          <a:prstGeom prst="rect">
            <a:avLst/>
          </a:prstGeom>
          <a:noFill/>
          <a:ln/>
        </p:spPr>
        <p:txBody>
          <a:bodyPr wrap="none" lIns="127508" tIns="127508" rIns="127508" bIns="127508" rtlCol="0" anchor="ctr">
            <a:spAutoFit/>
          </a:bodyPr>
          <a:lstStyle/>
          <a:p>
            <a:pPr marL="0" indent="0" algn="l">
              <a:buNone/>
            </a:pPr>
            <a:r>
              <a:rPr lang="en-US" sz="800" b="1" dirty="0">
                <a:solidFill>
                  <a:srgbClr val="059669"/>
                </a:solidFill>
                <a:latin typeface="Inter Bold" pitchFamily="34" charset="0"/>
                <a:ea typeface="Inter Bold" pitchFamily="34" charset="-122"/>
                <a:cs typeface="Inter Bold" pitchFamily="34" charset="-120"/>
              </a:rPr>
              <a:t>1</a:t>
            </a:r>
            <a:endParaRPr lang="en-US" sz="800" dirty="0"/>
          </a:p>
        </p:txBody>
      </p:sp>
      <p:sp>
        <p:nvSpPr>
          <p:cNvPr id="44" name="Shape 37"/>
          <p:cNvSpPr/>
          <p:nvPr/>
        </p:nvSpPr>
        <p:spPr>
          <a:xfrm>
            <a:off x="7640129" y="2743842"/>
            <a:ext cx="932371" cy="355402"/>
          </a:xfrm>
          <a:prstGeom prst="rect">
            <a:avLst/>
          </a:prstGeom>
          <a:solidFill>
            <a:srgbClr val="10B981">
              <a:alpha val="10000"/>
            </a:srgbClr>
          </a:solidFill>
          <a:ln/>
        </p:spPr>
        <p:txBody>
          <a:bodyPr/>
          <a:lstStyle/>
          <a:p>
            <a:endParaRPr lang="en-GB"/>
          </a:p>
        </p:txBody>
      </p:sp>
      <p:sp>
        <p:nvSpPr>
          <p:cNvPr id="45" name="Shape 38"/>
          <p:cNvSpPr/>
          <p:nvPr/>
        </p:nvSpPr>
        <p:spPr>
          <a:xfrm>
            <a:off x="7640129" y="2743842"/>
            <a:ext cx="932371" cy="7144"/>
          </a:xfrm>
          <a:prstGeom prst="rect">
            <a:avLst/>
          </a:prstGeom>
          <a:solidFill>
            <a:srgbClr val="E2E8F0"/>
          </a:solidFill>
          <a:ln/>
        </p:spPr>
        <p:txBody>
          <a:bodyPr/>
          <a:lstStyle/>
          <a:p>
            <a:endParaRPr lang="en-GB"/>
          </a:p>
        </p:txBody>
      </p:sp>
      <p:sp>
        <p:nvSpPr>
          <p:cNvPr id="46" name="Text 39"/>
          <p:cNvSpPr/>
          <p:nvPr/>
        </p:nvSpPr>
        <p:spPr>
          <a:xfrm>
            <a:off x="7640129" y="2743842"/>
            <a:ext cx="932371" cy="355402"/>
          </a:xfrm>
          <a:prstGeom prst="rect">
            <a:avLst/>
          </a:prstGeom>
          <a:noFill/>
          <a:ln/>
        </p:spPr>
        <p:txBody>
          <a:bodyPr wrap="none" lIns="127508" tIns="127508" rIns="127508" bIns="127508" rtlCol="0" anchor="ctr">
            <a:spAutoFit/>
          </a:bodyPr>
          <a:lstStyle/>
          <a:p>
            <a:pPr marL="0" indent="0" algn="l">
              <a:buNone/>
            </a:pPr>
            <a:r>
              <a:rPr lang="en-US" sz="800" b="1" dirty="0">
                <a:solidFill>
                  <a:srgbClr val="059669"/>
                </a:solidFill>
                <a:latin typeface="Inter Bold" pitchFamily="34" charset="0"/>
                <a:ea typeface="Inter Bold" pitchFamily="34" charset="-122"/>
                <a:cs typeface="Inter Bold" pitchFamily="34" charset="-120"/>
              </a:rPr>
              <a:t>25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7144"/>
            <a:ext cx="9144000" cy="5143500"/>
          </a:xfrm>
          <a:prstGeom prst="rect">
            <a:avLst/>
          </a:prstGeom>
        </p:spPr>
      </p:pic>
      <p:sp>
        <p:nvSpPr>
          <p:cNvPr id="4" name="Text 0"/>
          <p:cNvSpPr/>
          <p:nvPr/>
        </p:nvSpPr>
        <p:spPr>
          <a:xfrm>
            <a:off x="571500" y="706087"/>
            <a:ext cx="8572500" cy="414338"/>
          </a:xfrm>
          <a:prstGeom prst="rect">
            <a:avLst/>
          </a:prstGeom>
          <a:noFill/>
          <a:ln/>
        </p:spPr>
        <p:txBody>
          <a:bodyPr wrap="square" lIns="0" tIns="0" rIns="0" bIns="0" rtlCol="0" anchor="t">
            <a:spAutoFit/>
          </a:bodyPr>
          <a:lstStyle/>
          <a:p>
            <a:pPr marL="0" indent="0" algn="l">
              <a:buNone/>
            </a:pPr>
            <a:r>
              <a:rPr lang="en-US" sz="2450" b="1" dirty="0">
                <a:solidFill>
                  <a:srgbClr val="1E293B"/>
                </a:solidFill>
                <a:latin typeface="Inter Bold" pitchFamily="34" charset="0"/>
                <a:ea typeface="Inter Bold" pitchFamily="34" charset="-122"/>
                <a:cs typeface="Inter Bold" pitchFamily="34" charset="-120"/>
              </a:rPr>
              <a:t>Meet the "Dimension" Tables</a:t>
            </a:r>
            <a:endParaRPr lang="en-US" sz="2450" dirty="0"/>
          </a:p>
        </p:txBody>
      </p:sp>
      <p:sp>
        <p:nvSpPr>
          <p:cNvPr id="5" name="Shape 1"/>
          <p:cNvSpPr/>
          <p:nvPr/>
        </p:nvSpPr>
        <p:spPr>
          <a:xfrm>
            <a:off x="457200" y="1406175"/>
            <a:ext cx="1741122" cy="1950216"/>
          </a:xfrm>
          <a:prstGeom prst="rect">
            <a:avLst/>
          </a:prstGeom>
          <a:solidFill>
            <a:srgbClr val="FFFFFF"/>
          </a:solidFill>
          <a:ln/>
        </p:spPr>
        <p:txBody>
          <a:bodyPr/>
          <a:lstStyle/>
          <a:p>
            <a:endParaRPr lang="en-GB"/>
          </a:p>
        </p:txBody>
      </p:sp>
      <p:sp>
        <p:nvSpPr>
          <p:cNvPr id="6" name="Shape 2"/>
          <p:cNvSpPr/>
          <p:nvPr/>
        </p:nvSpPr>
        <p:spPr>
          <a:xfrm>
            <a:off x="571500" y="1520475"/>
            <a:ext cx="314325" cy="314325"/>
          </a:xfrm>
          <a:prstGeom prst="ellipse">
            <a:avLst/>
          </a:prstGeom>
          <a:solidFill>
            <a:srgbClr val="10B981"/>
          </a:solidFill>
          <a:ln/>
        </p:spPr>
        <p:txBody>
          <a:bodyPr/>
          <a:lstStyle/>
          <a:p>
            <a:endParaRPr lang="en-GB"/>
          </a:p>
        </p:txBody>
      </p:sp>
      <p:pic>
        <p:nvPicPr>
          <p:cNvPr id="7" name="Image 1" descr="preencoded.png"/>
          <p:cNvPicPr>
            <a:picLocks noChangeAspect="1"/>
          </p:cNvPicPr>
          <p:nvPr/>
        </p:nvPicPr>
        <p:blipFill>
          <a:blip r:embed="rId4"/>
          <a:stretch>
            <a:fillRect/>
          </a:stretch>
        </p:blipFill>
        <p:spPr>
          <a:xfrm>
            <a:off x="692051" y="1620487"/>
            <a:ext cx="73223" cy="114300"/>
          </a:xfrm>
          <a:prstGeom prst="rect">
            <a:avLst/>
          </a:prstGeom>
        </p:spPr>
      </p:pic>
      <p:sp>
        <p:nvSpPr>
          <p:cNvPr id="8" name="Text 3"/>
          <p:cNvSpPr/>
          <p:nvPr/>
        </p:nvSpPr>
        <p:spPr>
          <a:xfrm>
            <a:off x="985838" y="1691925"/>
            <a:ext cx="1098184" cy="621506"/>
          </a:xfrm>
          <a:prstGeom prst="rect">
            <a:avLst/>
          </a:prstGeom>
          <a:noFill/>
          <a:ln/>
        </p:spPr>
        <p:txBody>
          <a:bodyPr wrap="none" lIns="0" tIns="0" rIns="0" bIns="0" rtlCol="0" anchor="t">
            <a:spAutoFit/>
          </a:bodyPr>
          <a:lstStyle/>
          <a:p>
            <a:pPr marL="0" indent="0" algn="l">
              <a:buNone/>
            </a:pPr>
            <a:r>
              <a:rPr lang="en-US" sz="1200" b="1" dirty="0">
                <a:solidFill>
                  <a:srgbClr val="1E293B"/>
                </a:solidFill>
                <a:latin typeface="Inter Bold" pitchFamily="34" charset="0"/>
                <a:ea typeface="Inter Bold" pitchFamily="34" charset="-122"/>
                <a:cs typeface="Inter Bold" pitchFamily="34" charset="-120"/>
              </a:rPr>
              <a:t>The "Who, Where, and What?"</a:t>
            </a:r>
            <a:endParaRPr lang="en-US" sz="1200" dirty="0"/>
          </a:p>
        </p:txBody>
      </p:sp>
      <p:sp>
        <p:nvSpPr>
          <p:cNvPr id="9" name="Text 4"/>
          <p:cNvSpPr/>
          <p:nvPr/>
        </p:nvSpPr>
        <p:spPr>
          <a:xfrm>
            <a:off x="985838" y="2342006"/>
            <a:ext cx="1098184" cy="900085"/>
          </a:xfrm>
          <a:prstGeom prst="rect">
            <a:avLst/>
          </a:prstGeom>
          <a:noFill/>
          <a:ln/>
        </p:spPr>
        <p:txBody>
          <a:bodyPr wrap="square" lIns="0" tIns="0" rIns="0" bIns="0" rtlCol="0" anchor="t">
            <a:spAutoFit/>
          </a:bodyPr>
          <a:lstStyle/>
          <a:p>
            <a:pPr marL="0" indent="0" algn="l">
              <a:lnSpc>
                <a:spcPct val="112000"/>
              </a:lnSpc>
              <a:buNone/>
            </a:pPr>
            <a:r>
              <a:rPr lang="en-US" sz="950" dirty="0">
                <a:solidFill>
                  <a:srgbClr val="334155"/>
                </a:solidFill>
                <a:latin typeface="Inter" pitchFamily="34" charset="0"/>
                <a:ea typeface="Inter" pitchFamily="34" charset="-122"/>
                <a:cs typeface="Inter" pitchFamily="34" charset="-120"/>
              </a:rPr>
              <a:t>Dimension tables provide the context and descriptions for your data.</a:t>
            </a:r>
            <a:endParaRPr lang="en-US" sz="950" dirty="0"/>
          </a:p>
        </p:txBody>
      </p:sp>
      <p:sp>
        <p:nvSpPr>
          <p:cNvPr id="10" name="Shape 5"/>
          <p:cNvSpPr/>
          <p:nvPr/>
        </p:nvSpPr>
        <p:spPr>
          <a:xfrm>
            <a:off x="2326909" y="1406175"/>
            <a:ext cx="1741122" cy="1950216"/>
          </a:xfrm>
          <a:prstGeom prst="rect">
            <a:avLst/>
          </a:prstGeom>
          <a:solidFill>
            <a:srgbClr val="FFFFFF"/>
          </a:solidFill>
          <a:ln/>
        </p:spPr>
        <p:txBody>
          <a:bodyPr/>
          <a:lstStyle/>
          <a:p>
            <a:endParaRPr lang="en-GB"/>
          </a:p>
        </p:txBody>
      </p:sp>
      <p:sp>
        <p:nvSpPr>
          <p:cNvPr id="11" name="Shape 6"/>
          <p:cNvSpPr/>
          <p:nvPr/>
        </p:nvSpPr>
        <p:spPr>
          <a:xfrm>
            <a:off x="2441209" y="1520475"/>
            <a:ext cx="314325" cy="314325"/>
          </a:xfrm>
          <a:prstGeom prst="ellipse">
            <a:avLst/>
          </a:prstGeom>
          <a:solidFill>
            <a:srgbClr val="10B981"/>
          </a:solidFill>
          <a:ln/>
        </p:spPr>
        <p:txBody>
          <a:bodyPr/>
          <a:lstStyle/>
          <a:p>
            <a:endParaRPr lang="en-GB"/>
          </a:p>
        </p:txBody>
      </p:sp>
      <p:pic>
        <p:nvPicPr>
          <p:cNvPr id="12" name="Image 2" descr="preencoded.png"/>
          <p:cNvPicPr>
            <a:picLocks noChangeAspect="1"/>
          </p:cNvPicPr>
          <p:nvPr/>
        </p:nvPicPr>
        <p:blipFill>
          <a:blip r:embed="rId5"/>
          <a:stretch>
            <a:fillRect/>
          </a:stretch>
        </p:blipFill>
        <p:spPr>
          <a:xfrm>
            <a:off x="2541222" y="1620487"/>
            <a:ext cx="114300" cy="114300"/>
          </a:xfrm>
          <a:prstGeom prst="rect">
            <a:avLst/>
          </a:prstGeom>
        </p:spPr>
      </p:pic>
      <p:sp>
        <p:nvSpPr>
          <p:cNvPr id="13" name="Text 7"/>
          <p:cNvSpPr/>
          <p:nvPr/>
        </p:nvSpPr>
        <p:spPr>
          <a:xfrm>
            <a:off x="2855547" y="1691925"/>
            <a:ext cx="1098184" cy="414338"/>
          </a:xfrm>
          <a:prstGeom prst="rect">
            <a:avLst/>
          </a:prstGeom>
          <a:noFill/>
          <a:ln/>
        </p:spPr>
        <p:txBody>
          <a:bodyPr wrap="none" lIns="0" tIns="0" rIns="0" bIns="0" rtlCol="0" anchor="t">
            <a:spAutoFit/>
          </a:bodyPr>
          <a:lstStyle/>
          <a:p>
            <a:pPr marL="0" indent="0" algn="l">
              <a:buNone/>
            </a:pPr>
            <a:r>
              <a:rPr lang="en-US" sz="1200" b="1" dirty="0">
                <a:solidFill>
                  <a:srgbClr val="1E293B"/>
                </a:solidFill>
                <a:latin typeface="Inter Bold" pitchFamily="34" charset="0"/>
                <a:ea typeface="Inter Bold" pitchFamily="34" charset="-122"/>
                <a:cs typeface="Inter Bold" pitchFamily="34" charset="-120"/>
              </a:rPr>
              <a:t>Descriptive Details</a:t>
            </a:r>
            <a:endParaRPr lang="en-US" sz="1200" dirty="0"/>
          </a:p>
        </p:txBody>
      </p:sp>
      <p:sp>
        <p:nvSpPr>
          <p:cNvPr id="14" name="Text 8"/>
          <p:cNvSpPr/>
          <p:nvPr/>
        </p:nvSpPr>
        <p:spPr>
          <a:xfrm>
            <a:off x="2855547" y="2134837"/>
            <a:ext cx="1098184" cy="900085"/>
          </a:xfrm>
          <a:prstGeom prst="rect">
            <a:avLst/>
          </a:prstGeom>
          <a:noFill/>
          <a:ln/>
        </p:spPr>
        <p:txBody>
          <a:bodyPr wrap="square" lIns="0" tIns="0" rIns="0" bIns="0" rtlCol="0" anchor="t">
            <a:spAutoFit/>
          </a:bodyPr>
          <a:lstStyle/>
          <a:p>
            <a:pPr marL="0" indent="0" algn="l">
              <a:lnSpc>
                <a:spcPct val="112000"/>
              </a:lnSpc>
              <a:buNone/>
            </a:pPr>
            <a:r>
              <a:rPr lang="en-US" sz="950" dirty="0">
                <a:solidFill>
                  <a:srgbClr val="334155"/>
                </a:solidFill>
                <a:latin typeface="Inter" pitchFamily="34" charset="0"/>
                <a:ea typeface="Inter" pitchFamily="34" charset="-122"/>
                <a:cs typeface="Inter" pitchFamily="34" charset="-120"/>
              </a:rPr>
              <a:t>Contains names, categories, and addresses. These change slowly over time.</a:t>
            </a:r>
            <a:endParaRPr lang="en-US" sz="950" dirty="0"/>
          </a:p>
        </p:txBody>
      </p:sp>
      <p:sp>
        <p:nvSpPr>
          <p:cNvPr id="15" name="Shape 9"/>
          <p:cNvSpPr/>
          <p:nvPr/>
        </p:nvSpPr>
        <p:spPr>
          <a:xfrm>
            <a:off x="457200" y="3484978"/>
            <a:ext cx="3610831" cy="995828"/>
          </a:xfrm>
          <a:prstGeom prst="rect">
            <a:avLst/>
          </a:prstGeom>
          <a:solidFill>
            <a:srgbClr val="FFFFFF"/>
          </a:solidFill>
          <a:ln/>
        </p:spPr>
        <p:txBody>
          <a:bodyPr/>
          <a:lstStyle/>
          <a:p>
            <a:endParaRPr lang="en-GB"/>
          </a:p>
        </p:txBody>
      </p:sp>
      <p:sp>
        <p:nvSpPr>
          <p:cNvPr id="16" name="Shape 10"/>
          <p:cNvSpPr/>
          <p:nvPr/>
        </p:nvSpPr>
        <p:spPr>
          <a:xfrm>
            <a:off x="571500" y="3599278"/>
            <a:ext cx="314325" cy="314325"/>
          </a:xfrm>
          <a:prstGeom prst="ellipse">
            <a:avLst/>
          </a:prstGeom>
          <a:solidFill>
            <a:srgbClr val="10B981"/>
          </a:solidFill>
          <a:ln/>
        </p:spPr>
        <p:txBody>
          <a:bodyPr/>
          <a:lstStyle/>
          <a:p>
            <a:endParaRPr lang="en-GB"/>
          </a:p>
        </p:txBody>
      </p:sp>
      <p:pic>
        <p:nvPicPr>
          <p:cNvPr id="17" name="Image 3" descr="preencoded.png"/>
          <p:cNvPicPr>
            <a:picLocks noChangeAspect="1"/>
          </p:cNvPicPr>
          <p:nvPr/>
        </p:nvPicPr>
        <p:blipFill>
          <a:blip r:embed="rId6"/>
          <a:stretch>
            <a:fillRect/>
          </a:stretch>
        </p:blipFill>
        <p:spPr>
          <a:xfrm>
            <a:off x="671513" y="3699290"/>
            <a:ext cx="114300" cy="114300"/>
          </a:xfrm>
          <a:prstGeom prst="rect">
            <a:avLst/>
          </a:prstGeom>
        </p:spPr>
      </p:pic>
      <p:sp>
        <p:nvSpPr>
          <p:cNvPr id="18" name="Text 11"/>
          <p:cNvSpPr/>
          <p:nvPr/>
        </p:nvSpPr>
        <p:spPr>
          <a:xfrm>
            <a:off x="985838" y="3770728"/>
            <a:ext cx="2967893" cy="207169"/>
          </a:xfrm>
          <a:prstGeom prst="rect">
            <a:avLst/>
          </a:prstGeom>
          <a:noFill/>
          <a:ln/>
        </p:spPr>
        <p:txBody>
          <a:bodyPr wrap="square" lIns="0" tIns="0" rIns="0" bIns="0" rtlCol="0" anchor="t">
            <a:spAutoFit/>
          </a:bodyPr>
          <a:lstStyle/>
          <a:p>
            <a:pPr marL="0" indent="0" algn="l">
              <a:buNone/>
            </a:pPr>
            <a:r>
              <a:rPr lang="en-US" sz="1200" b="1" dirty="0">
                <a:solidFill>
                  <a:srgbClr val="1E293B"/>
                </a:solidFill>
                <a:latin typeface="Inter Bold" pitchFamily="34" charset="0"/>
                <a:ea typeface="Inter Bold" pitchFamily="34" charset="-122"/>
                <a:cs typeface="Inter Bold" pitchFamily="34" charset="-120"/>
              </a:rPr>
              <a:t>Used for Filtering</a:t>
            </a:r>
            <a:endParaRPr lang="en-US" sz="1200" dirty="0"/>
          </a:p>
        </p:txBody>
      </p:sp>
      <p:sp>
        <p:nvSpPr>
          <p:cNvPr id="19" name="Text 12"/>
          <p:cNvSpPr/>
          <p:nvPr/>
        </p:nvSpPr>
        <p:spPr>
          <a:xfrm>
            <a:off x="985838" y="4006472"/>
            <a:ext cx="2967893" cy="360034"/>
          </a:xfrm>
          <a:prstGeom prst="rect">
            <a:avLst/>
          </a:prstGeom>
          <a:noFill/>
          <a:ln/>
        </p:spPr>
        <p:txBody>
          <a:bodyPr wrap="square" lIns="0" tIns="0" rIns="0" bIns="0" rtlCol="0" anchor="t">
            <a:spAutoFit/>
          </a:bodyPr>
          <a:lstStyle/>
          <a:p>
            <a:pPr marL="0" indent="0" algn="l">
              <a:lnSpc>
                <a:spcPct val="112000"/>
              </a:lnSpc>
              <a:buNone/>
            </a:pPr>
            <a:r>
              <a:rPr lang="en-US" sz="950" dirty="0">
                <a:solidFill>
                  <a:srgbClr val="334155"/>
                </a:solidFill>
                <a:latin typeface="Inter" pitchFamily="34" charset="0"/>
                <a:ea typeface="Inter" pitchFamily="34" charset="-122"/>
                <a:cs typeface="Inter" pitchFamily="34" charset="-120"/>
              </a:rPr>
              <a:t>These are the fields you drag into your Slicers and Chart Axes.</a:t>
            </a:r>
            <a:endParaRPr lang="en-US" sz="950" dirty="0"/>
          </a:p>
        </p:txBody>
      </p:sp>
      <p:pic>
        <p:nvPicPr>
          <p:cNvPr id="20" name="Image 4" descr="preencoded.png"/>
          <p:cNvPicPr>
            <a:picLocks noChangeAspect="1"/>
          </p:cNvPicPr>
          <p:nvPr/>
        </p:nvPicPr>
        <p:blipFill>
          <a:blip r:embed="rId7"/>
          <a:stretch>
            <a:fillRect/>
          </a:stretch>
        </p:blipFill>
        <p:spPr>
          <a:xfrm>
            <a:off x="4353781" y="1464218"/>
            <a:ext cx="142875" cy="142875"/>
          </a:xfrm>
          <a:prstGeom prst="rect">
            <a:avLst/>
          </a:prstGeom>
        </p:spPr>
      </p:pic>
      <p:sp>
        <p:nvSpPr>
          <p:cNvPr id="21" name="Text 13"/>
          <p:cNvSpPr/>
          <p:nvPr/>
        </p:nvSpPr>
        <p:spPr>
          <a:xfrm>
            <a:off x="4568093" y="1449037"/>
            <a:ext cx="2144911" cy="173236"/>
          </a:xfrm>
          <a:prstGeom prst="rect">
            <a:avLst/>
          </a:prstGeom>
          <a:noFill/>
          <a:ln/>
        </p:spPr>
        <p:txBody>
          <a:bodyPr wrap="square" lIns="0" tIns="0" rIns="0" bIns="0" rtlCol="0" anchor="t">
            <a:spAutoFit/>
          </a:bodyPr>
          <a:lstStyle/>
          <a:p>
            <a:pPr marL="0" indent="0" algn="l">
              <a:buNone/>
            </a:pPr>
            <a:r>
              <a:rPr lang="en-US" sz="1000" b="1" dirty="0">
                <a:solidFill>
                  <a:srgbClr val="475569"/>
                </a:solidFill>
                <a:latin typeface="Inter Bold" pitchFamily="34" charset="0"/>
                <a:ea typeface="Inter Bold" pitchFamily="34" charset="-122"/>
                <a:cs typeface="Inter Bold" pitchFamily="34" charset="-120"/>
              </a:rPr>
              <a:t>Example: Customer Dimension</a:t>
            </a:r>
            <a:endParaRPr lang="en-US" sz="1000" dirty="0"/>
          </a:p>
        </p:txBody>
      </p:sp>
      <p:sp>
        <p:nvSpPr>
          <p:cNvPr id="22" name="Shape 14"/>
          <p:cNvSpPr/>
          <p:nvPr/>
        </p:nvSpPr>
        <p:spPr>
          <a:xfrm>
            <a:off x="4353781" y="1693711"/>
            <a:ext cx="4333019" cy="1150144"/>
          </a:xfrm>
          <a:prstGeom prst="rect">
            <a:avLst/>
          </a:prstGeom>
          <a:solidFill>
            <a:srgbClr val="FFFFFF"/>
          </a:solidFill>
          <a:ln/>
        </p:spPr>
        <p:txBody>
          <a:bodyPr/>
          <a:lstStyle/>
          <a:p>
            <a:endParaRPr lang="en-GB"/>
          </a:p>
        </p:txBody>
      </p:sp>
      <p:sp>
        <p:nvSpPr>
          <p:cNvPr id="23" name="Shape 15"/>
          <p:cNvSpPr/>
          <p:nvPr/>
        </p:nvSpPr>
        <p:spPr>
          <a:xfrm>
            <a:off x="4353781" y="1693711"/>
            <a:ext cx="988516" cy="283964"/>
          </a:xfrm>
          <a:prstGeom prst="rect">
            <a:avLst/>
          </a:prstGeom>
          <a:solidFill>
            <a:srgbClr val="F1F5F9"/>
          </a:solidFill>
          <a:ln/>
        </p:spPr>
        <p:txBody>
          <a:bodyPr/>
          <a:lstStyle/>
          <a:p>
            <a:endParaRPr lang="en-GB"/>
          </a:p>
        </p:txBody>
      </p:sp>
      <p:sp>
        <p:nvSpPr>
          <p:cNvPr id="24" name="Shape 16"/>
          <p:cNvSpPr/>
          <p:nvPr/>
        </p:nvSpPr>
        <p:spPr>
          <a:xfrm>
            <a:off x="4353781" y="1970531"/>
            <a:ext cx="988516" cy="7144"/>
          </a:xfrm>
          <a:prstGeom prst="rect">
            <a:avLst/>
          </a:prstGeom>
          <a:solidFill>
            <a:srgbClr val="E2E8F0"/>
          </a:solidFill>
          <a:ln/>
        </p:spPr>
        <p:txBody>
          <a:bodyPr/>
          <a:lstStyle/>
          <a:p>
            <a:endParaRPr lang="en-GB"/>
          </a:p>
        </p:txBody>
      </p:sp>
      <p:sp>
        <p:nvSpPr>
          <p:cNvPr id="25" name="Text 17"/>
          <p:cNvSpPr/>
          <p:nvPr/>
        </p:nvSpPr>
        <p:spPr>
          <a:xfrm>
            <a:off x="4353781" y="1693711"/>
            <a:ext cx="988516" cy="283964"/>
          </a:xfrm>
          <a:prstGeom prst="rect">
            <a:avLst/>
          </a:prstGeom>
          <a:noFill/>
          <a:ln/>
        </p:spPr>
        <p:txBody>
          <a:bodyPr wrap="none" lIns="102108" tIns="85090" rIns="102108" bIns="85090" rtlCol="0" anchor="ctr">
            <a:spAutoFit/>
          </a:bodyPr>
          <a:lstStyle/>
          <a:p>
            <a:pPr marL="0" indent="0" algn="l">
              <a:buNone/>
            </a:pPr>
            <a:r>
              <a:rPr lang="en-US" sz="800" b="1" dirty="0">
                <a:solidFill>
                  <a:srgbClr val="1E293B"/>
                </a:solidFill>
                <a:latin typeface="Inter Bold" pitchFamily="34" charset="0"/>
                <a:ea typeface="Inter Bold" pitchFamily="34" charset="-122"/>
                <a:cs typeface="Inter Bold" pitchFamily="34" charset="-120"/>
              </a:rPr>
              <a:t>CustomerID</a:t>
            </a:r>
            <a:endParaRPr lang="en-US" sz="800" dirty="0"/>
          </a:p>
        </p:txBody>
      </p:sp>
      <p:sp>
        <p:nvSpPr>
          <p:cNvPr id="26" name="Shape 18"/>
          <p:cNvSpPr/>
          <p:nvPr/>
        </p:nvSpPr>
        <p:spPr>
          <a:xfrm>
            <a:off x="5342297" y="1693711"/>
            <a:ext cx="1102816" cy="283964"/>
          </a:xfrm>
          <a:prstGeom prst="rect">
            <a:avLst/>
          </a:prstGeom>
          <a:solidFill>
            <a:srgbClr val="F1F5F9"/>
          </a:solidFill>
          <a:ln/>
        </p:spPr>
        <p:txBody>
          <a:bodyPr/>
          <a:lstStyle/>
          <a:p>
            <a:endParaRPr lang="en-GB"/>
          </a:p>
        </p:txBody>
      </p:sp>
      <p:sp>
        <p:nvSpPr>
          <p:cNvPr id="27" name="Shape 19"/>
          <p:cNvSpPr/>
          <p:nvPr/>
        </p:nvSpPr>
        <p:spPr>
          <a:xfrm>
            <a:off x="5342297" y="1970531"/>
            <a:ext cx="1102816" cy="7144"/>
          </a:xfrm>
          <a:prstGeom prst="rect">
            <a:avLst/>
          </a:prstGeom>
          <a:solidFill>
            <a:srgbClr val="E2E8F0"/>
          </a:solidFill>
          <a:ln/>
        </p:spPr>
        <p:txBody>
          <a:bodyPr/>
          <a:lstStyle/>
          <a:p>
            <a:endParaRPr lang="en-GB"/>
          </a:p>
        </p:txBody>
      </p:sp>
      <p:sp>
        <p:nvSpPr>
          <p:cNvPr id="28" name="Text 20"/>
          <p:cNvSpPr/>
          <p:nvPr/>
        </p:nvSpPr>
        <p:spPr>
          <a:xfrm>
            <a:off x="5342297" y="1693711"/>
            <a:ext cx="1102816" cy="283964"/>
          </a:xfrm>
          <a:prstGeom prst="rect">
            <a:avLst/>
          </a:prstGeom>
          <a:noFill/>
          <a:ln/>
        </p:spPr>
        <p:txBody>
          <a:bodyPr wrap="none" lIns="102108" tIns="85090" rIns="102108" bIns="85090" rtlCol="0" anchor="ctr">
            <a:spAutoFit/>
          </a:bodyPr>
          <a:lstStyle/>
          <a:p>
            <a:pPr marL="0" indent="0" algn="l">
              <a:buNone/>
            </a:pPr>
            <a:r>
              <a:rPr lang="en-US" sz="800" b="1" dirty="0">
                <a:solidFill>
                  <a:srgbClr val="1E293B"/>
                </a:solidFill>
                <a:latin typeface="Inter Bold" pitchFamily="34" charset="0"/>
                <a:ea typeface="Inter Bold" pitchFamily="34" charset="-122"/>
                <a:cs typeface="Inter Bold" pitchFamily="34" charset="-120"/>
              </a:rPr>
              <a:t>Name</a:t>
            </a:r>
            <a:endParaRPr lang="en-US" sz="800" dirty="0"/>
          </a:p>
        </p:txBody>
      </p:sp>
      <p:sp>
        <p:nvSpPr>
          <p:cNvPr id="29" name="Shape 21"/>
          <p:cNvSpPr/>
          <p:nvPr/>
        </p:nvSpPr>
        <p:spPr>
          <a:xfrm>
            <a:off x="6445114" y="1693711"/>
            <a:ext cx="1424564" cy="283964"/>
          </a:xfrm>
          <a:prstGeom prst="rect">
            <a:avLst/>
          </a:prstGeom>
          <a:solidFill>
            <a:srgbClr val="F1F5F9"/>
          </a:solidFill>
          <a:ln/>
        </p:spPr>
        <p:txBody>
          <a:bodyPr/>
          <a:lstStyle/>
          <a:p>
            <a:endParaRPr lang="en-GB"/>
          </a:p>
        </p:txBody>
      </p:sp>
      <p:sp>
        <p:nvSpPr>
          <p:cNvPr id="30" name="Shape 22"/>
          <p:cNvSpPr/>
          <p:nvPr/>
        </p:nvSpPr>
        <p:spPr>
          <a:xfrm>
            <a:off x="6445114" y="1970531"/>
            <a:ext cx="1424564" cy="7144"/>
          </a:xfrm>
          <a:prstGeom prst="rect">
            <a:avLst/>
          </a:prstGeom>
          <a:solidFill>
            <a:srgbClr val="E2E8F0"/>
          </a:solidFill>
          <a:ln/>
        </p:spPr>
        <p:txBody>
          <a:bodyPr/>
          <a:lstStyle/>
          <a:p>
            <a:endParaRPr lang="en-GB"/>
          </a:p>
        </p:txBody>
      </p:sp>
      <p:sp>
        <p:nvSpPr>
          <p:cNvPr id="31" name="Text 23"/>
          <p:cNvSpPr/>
          <p:nvPr/>
        </p:nvSpPr>
        <p:spPr>
          <a:xfrm>
            <a:off x="6445114" y="1693711"/>
            <a:ext cx="1424564" cy="283964"/>
          </a:xfrm>
          <a:prstGeom prst="rect">
            <a:avLst/>
          </a:prstGeom>
          <a:noFill/>
          <a:ln/>
        </p:spPr>
        <p:txBody>
          <a:bodyPr wrap="square" lIns="102108" tIns="85090" rIns="102108" bIns="85090" rtlCol="0" anchor="ctr">
            <a:spAutoFit/>
          </a:bodyPr>
          <a:lstStyle/>
          <a:p>
            <a:pPr marL="0" indent="0" algn="l">
              <a:buNone/>
            </a:pPr>
            <a:r>
              <a:rPr lang="en-US" sz="800" b="1" dirty="0">
                <a:solidFill>
                  <a:srgbClr val="1E293B"/>
                </a:solidFill>
                <a:latin typeface="Inter Bold" pitchFamily="34" charset="0"/>
                <a:ea typeface="Inter Bold" pitchFamily="34" charset="-122"/>
                <a:cs typeface="Inter Bold" pitchFamily="34" charset="-120"/>
              </a:rPr>
              <a:t>Email</a:t>
            </a:r>
            <a:endParaRPr lang="en-US" sz="800" dirty="0"/>
          </a:p>
        </p:txBody>
      </p:sp>
      <p:sp>
        <p:nvSpPr>
          <p:cNvPr id="32" name="Shape 24"/>
          <p:cNvSpPr/>
          <p:nvPr/>
        </p:nvSpPr>
        <p:spPr>
          <a:xfrm>
            <a:off x="7869678" y="1693711"/>
            <a:ext cx="817122" cy="283964"/>
          </a:xfrm>
          <a:prstGeom prst="rect">
            <a:avLst/>
          </a:prstGeom>
          <a:solidFill>
            <a:srgbClr val="F1F5F9"/>
          </a:solidFill>
          <a:ln/>
        </p:spPr>
        <p:txBody>
          <a:bodyPr/>
          <a:lstStyle/>
          <a:p>
            <a:endParaRPr lang="en-GB"/>
          </a:p>
        </p:txBody>
      </p:sp>
      <p:sp>
        <p:nvSpPr>
          <p:cNvPr id="33" name="Shape 25"/>
          <p:cNvSpPr/>
          <p:nvPr/>
        </p:nvSpPr>
        <p:spPr>
          <a:xfrm>
            <a:off x="7869678" y="1970531"/>
            <a:ext cx="817122" cy="7144"/>
          </a:xfrm>
          <a:prstGeom prst="rect">
            <a:avLst/>
          </a:prstGeom>
          <a:solidFill>
            <a:srgbClr val="E2E8F0"/>
          </a:solidFill>
          <a:ln/>
        </p:spPr>
        <p:txBody>
          <a:bodyPr/>
          <a:lstStyle/>
          <a:p>
            <a:endParaRPr lang="en-GB"/>
          </a:p>
        </p:txBody>
      </p:sp>
      <p:sp>
        <p:nvSpPr>
          <p:cNvPr id="34" name="Text 26"/>
          <p:cNvSpPr/>
          <p:nvPr/>
        </p:nvSpPr>
        <p:spPr>
          <a:xfrm>
            <a:off x="7869678" y="1693711"/>
            <a:ext cx="817122" cy="283964"/>
          </a:xfrm>
          <a:prstGeom prst="rect">
            <a:avLst/>
          </a:prstGeom>
          <a:noFill/>
          <a:ln/>
        </p:spPr>
        <p:txBody>
          <a:bodyPr wrap="none" lIns="102108" tIns="85090" rIns="102108" bIns="85090" rtlCol="0" anchor="ctr">
            <a:spAutoFit/>
          </a:bodyPr>
          <a:lstStyle/>
          <a:p>
            <a:pPr marL="0" indent="0" algn="l">
              <a:buNone/>
            </a:pPr>
            <a:r>
              <a:rPr lang="en-US" sz="800" b="1" dirty="0">
                <a:solidFill>
                  <a:srgbClr val="1E293B"/>
                </a:solidFill>
                <a:latin typeface="Inter Bold" pitchFamily="34" charset="0"/>
                <a:ea typeface="Inter Bold" pitchFamily="34" charset="-122"/>
                <a:cs typeface="Inter Bold" pitchFamily="34" charset="-120"/>
              </a:rPr>
              <a:t>City</a:t>
            </a:r>
            <a:endParaRPr lang="en-US" sz="800" dirty="0"/>
          </a:p>
        </p:txBody>
      </p:sp>
      <p:sp>
        <p:nvSpPr>
          <p:cNvPr id="35" name="Text 27"/>
          <p:cNvSpPr/>
          <p:nvPr/>
        </p:nvSpPr>
        <p:spPr>
          <a:xfrm>
            <a:off x="4353781" y="1974103"/>
            <a:ext cx="988516" cy="283964"/>
          </a:xfrm>
          <a:prstGeom prst="rect">
            <a:avLst/>
          </a:prstGeom>
          <a:noFill/>
          <a:ln/>
        </p:spPr>
        <p:txBody>
          <a:bodyPr wrap="none" lIns="102108" tIns="85090" rIns="102108" bIns="85090" rtlCol="0" anchor="ctr">
            <a:spAutoFit/>
          </a:bodyPr>
          <a:lstStyle/>
          <a:p>
            <a:pPr marL="0" indent="0" algn="l">
              <a:buNone/>
            </a:pPr>
            <a:r>
              <a:rPr lang="en-US" sz="850" dirty="0">
                <a:solidFill>
                  <a:srgbClr val="334155"/>
                </a:solidFill>
                <a:latin typeface="Inter" pitchFamily="34" charset="0"/>
                <a:ea typeface="Inter" pitchFamily="34" charset="-122"/>
                <a:cs typeface="Inter" pitchFamily="34" charset="-120"/>
              </a:rPr>
              <a:t>C01</a:t>
            </a:r>
            <a:endParaRPr lang="en-US" sz="850" dirty="0"/>
          </a:p>
        </p:txBody>
      </p:sp>
      <p:sp>
        <p:nvSpPr>
          <p:cNvPr id="36" name="Text 28"/>
          <p:cNvSpPr/>
          <p:nvPr/>
        </p:nvSpPr>
        <p:spPr>
          <a:xfrm>
            <a:off x="5342297" y="1974103"/>
            <a:ext cx="1102816" cy="283964"/>
          </a:xfrm>
          <a:prstGeom prst="rect">
            <a:avLst/>
          </a:prstGeom>
          <a:noFill/>
          <a:ln/>
        </p:spPr>
        <p:txBody>
          <a:bodyPr wrap="none" lIns="102108" tIns="85090" rIns="102108" bIns="85090" rtlCol="0" anchor="ctr">
            <a:spAutoFit/>
          </a:bodyPr>
          <a:lstStyle/>
          <a:p>
            <a:pPr marL="0" indent="0" algn="l">
              <a:buNone/>
            </a:pPr>
            <a:r>
              <a:rPr lang="en-US" sz="850" dirty="0">
                <a:solidFill>
                  <a:srgbClr val="334155"/>
                </a:solidFill>
                <a:latin typeface="Inter" pitchFamily="34" charset="0"/>
                <a:ea typeface="Inter" pitchFamily="34" charset="-122"/>
                <a:cs typeface="Inter" pitchFamily="34" charset="-120"/>
              </a:rPr>
              <a:t>Alice Smith</a:t>
            </a:r>
            <a:endParaRPr lang="en-US" sz="850" dirty="0"/>
          </a:p>
        </p:txBody>
      </p:sp>
      <p:sp>
        <p:nvSpPr>
          <p:cNvPr id="37" name="Text 29"/>
          <p:cNvSpPr/>
          <p:nvPr/>
        </p:nvSpPr>
        <p:spPr>
          <a:xfrm>
            <a:off x="6445114" y="1974103"/>
            <a:ext cx="1424564" cy="283964"/>
          </a:xfrm>
          <a:prstGeom prst="rect">
            <a:avLst/>
          </a:prstGeom>
          <a:noFill/>
          <a:ln/>
        </p:spPr>
        <p:txBody>
          <a:bodyPr wrap="square" lIns="102108" tIns="85090" rIns="102108" bIns="85090" rtlCol="0" anchor="ctr">
            <a:spAutoFit/>
          </a:bodyPr>
          <a:lstStyle/>
          <a:p>
            <a:pPr marL="0" indent="0" algn="l">
              <a:buNone/>
            </a:pPr>
            <a:r>
              <a:rPr lang="en-US" sz="850" dirty="0">
                <a:solidFill>
                  <a:srgbClr val="334155"/>
                </a:solidFill>
                <a:latin typeface="Inter" pitchFamily="34" charset="0"/>
                <a:ea typeface="Inter" pitchFamily="34" charset="-122"/>
                <a:cs typeface="Inter" pitchFamily="34" charset="-120"/>
              </a:rPr>
              <a:t>alice@email.com</a:t>
            </a:r>
            <a:endParaRPr lang="en-US" sz="850" dirty="0"/>
          </a:p>
        </p:txBody>
      </p:sp>
      <p:sp>
        <p:nvSpPr>
          <p:cNvPr id="38" name="Text 30"/>
          <p:cNvSpPr/>
          <p:nvPr/>
        </p:nvSpPr>
        <p:spPr>
          <a:xfrm>
            <a:off x="7869678" y="1974103"/>
            <a:ext cx="817122" cy="283964"/>
          </a:xfrm>
          <a:prstGeom prst="rect">
            <a:avLst/>
          </a:prstGeom>
          <a:noFill/>
          <a:ln/>
        </p:spPr>
        <p:txBody>
          <a:bodyPr wrap="none" lIns="102108" tIns="85090" rIns="102108" bIns="85090" rtlCol="0" anchor="ctr">
            <a:spAutoFit/>
          </a:bodyPr>
          <a:lstStyle/>
          <a:p>
            <a:pPr marL="0" indent="0" algn="l">
              <a:buNone/>
            </a:pPr>
            <a:r>
              <a:rPr lang="en-US" sz="850" dirty="0">
                <a:solidFill>
                  <a:srgbClr val="334155"/>
                </a:solidFill>
                <a:latin typeface="Inter" pitchFamily="34" charset="0"/>
                <a:ea typeface="Inter" pitchFamily="34" charset="-122"/>
                <a:cs typeface="Inter" pitchFamily="34" charset="-120"/>
              </a:rPr>
              <a:t>New York</a:t>
            </a:r>
            <a:endParaRPr lang="en-US" sz="850" dirty="0"/>
          </a:p>
        </p:txBody>
      </p:sp>
      <p:sp>
        <p:nvSpPr>
          <p:cNvPr id="39" name="Text 31"/>
          <p:cNvSpPr/>
          <p:nvPr/>
        </p:nvSpPr>
        <p:spPr>
          <a:xfrm>
            <a:off x="4353781" y="2258067"/>
            <a:ext cx="988516" cy="287536"/>
          </a:xfrm>
          <a:prstGeom prst="rect">
            <a:avLst/>
          </a:prstGeom>
          <a:noFill/>
          <a:ln/>
        </p:spPr>
        <p:txBody>
          <a:bodyPr wrap="none" lIns="102108" tIns="85090" rIns="102108" bIns="85090" rtlCol="0" anchor="ctr">
            <a:spAutoFit/>
          </a:bodyPr>
          <a:lstStyle/>
          <a:p>
            <a:pPr marL="0" indent="0" algn="l">
              <a:buNone/>
            </a:pPr>
            <a:r>
              <a:rPr lang="en-US" sz="850" dirty="0">
                <a:solidFill>
                  <a:srgbClr val="334155"/>
                </a:solidFill>
                <a:latin typeface="Inter" pitchFamily="34" charset="0"/>
                <a:ea typeface="Inter" pitchFamily="34" charset="-122"/>
                <a:cs typeface="Inter" pitchFamily="34" charset="-120"/>
              </a:rPr>
              <a:t>C02</a:t>
            </a:r>
            <a:endParaRPr lang="en-US" sz="850" dirty="0"/>
          </a:p>
        </p:txBody>
      </p:sp>
      <p:sp>
        <p:nvSpPr>
          <p:cNvPr id="40" name="Text 32"/>
          <p:cNvSpPr/>
          <p:nvPr/>
        </p:nvSpPr>
        <p:spPr>
          <a:xfrm>
            <a:off x="5342297" y="2258067"/>
            <a:ext cx="1102816" cy="287536"/>
          </a:xfrm>
          <a:prstGeom prst="rect">
            <a:avLst/>
          </a:prstGeom>
          <a:noFill/>
          <a:ln/>
        </p:spPr>
        <p:txBody>
          <a:bodyPr wrap="none" lIns="102108" tIns="85090" rIns="102108" bIns="85090" rtlCol="0" anchor="ctr">
            <a:spAutoFit/>
          </a:bodyPr>
          <a:lstStyle/>
          <a:p>
            <a:pPr marL="0" indent="0" algn="l">
              <a:buNone/>
            </a:pPr>
            <a:r>
              <a:rPr lang="en-US" sz="850" dirty="0">
                <a:solidFill>
                  <a:srgbClr val="334155"/>
                </a:solidFill>
                <a:latin typeface="Inter" pitchFamily="34" charset="0"/>
                <a:ea typeface="Inter" pitchFamily="34" charset="-122"/>
                <a:cs typeface="Inter" pitchFamily="34" charset="-120"/>
              </a:rPr>
              <a:t>Bob Jones</a:t>
            </a:r>
            <a:endParaRPr lang="en-US" sz="850" dirty="0"/>
          </a:p>
        </p:txBody>
      </p:sp>
      <p:sp>
        <p:nvSpPr>
          <p:cNvPr id="41" name="Text 33"/>
          <p:cNvSpPr/>
          <p:nvPr/>
        </p:nvSpPr>
        <p:spPr>
          <a:xfrm>
            <a:off x="6445114" y="2258067"/>
            <a:ext cx="1424564" cy="287536"/>
          </a:xfrm>
          <a:prstGeom prst="rect">
            <a:avLst/>
          </a:prstGeom>
          <a:noFill/>
          <a:ln/>
        </p:spPr>
        <p:txBody>
          <a:bodyPr wrap="square" lIns="102108" tIns="85090" rIns="102108" bIns="85090" rtlCol="0" anchor="ctr">
            <a:spAutoFit/>
          </a:bodyPr>
          <a:lstStyle/>
          <a:p>
            <a:pPr marL="0" indent="0" algn="l">
              <a:buNone/>
            </a:pPr>
            <a:r>
              <a:rPr lang="en-US" sz="850" dirty="0">
                <a:solidFill>
                  <a:srgbClr val="334155"/>
                </a:solidFill>
                <a:latin typeface="Inter" pitchFamily="34" charset="0"/>
                <a:ea typeface="Inter" pitchFamily="34" charset="-122"/>
                <a:cs typeface="Inter" pitchFamily="34" charset="-120"/>
              </a:rPr>
              <a:t>bob@email.com</a:t>
            </a:r>
            <a:endParaRPr lang="en-US" sz="850" dirty="0"/>
          </a:p>
        </p:txBody>
      </p:sp>
      <p:sp>
        <p:nvSpPr>
          <p:cNvPr id="42" name="Text 34"/>
          <p:cNvSpPr/>
          <p:nvPr/>
        </p:nvSpPr>
        <p:spPr>
          <a:xfrm>
            <a:off x="7869678" y="2258067"/>
            <a:ext cx="817122" cy="287536"/>
          </a:xfrm>
          <a:prstGeom prst="rect">
            <a:avLst/>
          </a:prstGeom>
          <a:noFill/>
          <a:ln/>
        </p:spPr>
        <p:txBody>
          <a:bodyPr wrap="none" lIns="102108" tIns="85090" rIns="102108" bIns="85090" rtlCol="0" anchor="ctr">
            <a:spAutoFit/>
          </a:bodyPr>
          <a:lstStyle/>
          <a:p>
            <a:pPr marL="0" indent="0" algn="l">
              <a:buNone/>
            </a:pPr>
            <a:r>
              <a:rPr lang="en-US" sz="850" dirty="0">
                <a:solidFill>
                  <a:srgbClr val="334155"/>
                </a:solidFill>
                <a:latin typeface="Inter" pitchFamily="34" charset="0"/>
                <a:ea typeface="Inter" pitchFamily="34" charset="-122"/>
                <a:cs typeface="Inter" pitchFamily="34" charset="-120"/>
              </a:rPr>
              <a:t>London</a:t>
            </a:r>
            <a:endParaRPr lang="en-US" sz="850" dirty="0"/>
          </a:p>
        </p:txBody>
      </p:sp>
      <p:sp>
        <p:nvSpPr>
          <p:cNvPr id="43" name="Text 35"/>
          <p:cNvSpPr/>
          <p:nvPr/>
        </p:nvSpPr>
        <p:spPr>
          <a:xfrm>
            <a:off x="4353781" y="2545603"/>
            <a:ext cx="988516" cy="287536"/>
          </a:xfrm>
          <a:prstGeom prst="rect">
            <a:avLst/>
          </a:prstGeom>
          <a:noFill/>
          <a:ln/>
        </p:spPr>
        <p:txBody>
          <a:bodyPr wrap="none" lIns="102108" tIns="85090" rIns="102108" bIns="85090" rtlCol="0" anchor="ctr">
            <a:spAutoFit/>
          </a:bodyPr>
          <a:lstStyle/>
          <a:p>
            <a:pPr marL="0" indent="0" algn="l">
              <a:buNone/>
            </a:pPr>
            <a:r>
              <a:rPr lang="en-US" sz="850" dirty="0">
                <a:solidFill>
                  <a:srgbClr val="334155"/>
                </a:solidFill>
                <a:latin typeface="Inter" pitchFamily="34" charset="0"/>
                <a:ea typeface="Inter" pitchFamily="34" charset="-122"/>
                <a:cs typeface="Inter" pitchFamily="34" charset="-120"/>
              </a:rPr>
              <a:t>C03</a:t>
            </a:r>
            <a:endParaRPr lang="en-US" sz="850" dirty="0"/>
          </a:p>
        </p:txBody>
      </p:sp>
      <p:sp>
        <p:nvSpPr>
          <p:cNvPr id="44" name="Text 36"/>
          <p:cNvSpPr/>
          <p:nvPr/>
        </p:nvSpPr>
        <p:spPr>
          <a:xfrm>
            <a:off x="5342297" y="2545603"/>
            <a:ext cx="1102816" cy="287536"/>
          </a:xfrm>
          <a:prstGeom prst="rect">
            <a:avLst/>
          </a:prstGeom>
          <a:noFill/>
          <a:ln/>
        </p:spPr>
        <p:txBody>
          <a:bodyPr wrap="none" lIns="102108" tIns="85090" rIns="102108" bIns="85090" rtlCol="0" anchor="ctr">
            <a:spAutoFit/>
          </a:bodyPr>
          <a:lstStyle/>
          <a:p>
            <a:pPr marL="0" indent="0" algn="l">
              <a:buNone/>
            </a:pPr>
            <a:r>
              <a:rPr lang="en-US" sz="850" dirty="0">
                <a:solidFill>
                  <a:srgbClr val="334155"/>
                </a:solidFill>
                <a:latin typeface="Inter" pitchFamily="34" charset="0"/>
                <a:ea typeface="Inter" pitchFamily="34" charset="-122"/>
                <a:cs typeface="Inter" pitchFamily="34" charset="-120"/>
              </a:rPr>
              <a:t>Charlie Brown</a:t>
            </a:r>
            <a:endParaRPr lang="en-US" sz="850" dirty="0"/>
          </a:p>
        </p:txBody>
      </p:sp>
      <p:sp>
        <p:nvSpPr>
          <p:cNvPr id="45" name="Text 37"/>
          <p:cNvSpPr/>
          <p:nvPr/>
        </p:nvSpPr>
        <p:spPr>
          <a:xfrm>
            <a:off x="6445114" y="2545603"/>
            <a:ext cx="1424564" cy="287536"/>
          </a:xfrm>
          <a:prstGeom prst="rect">
            <a:avLst/>
          </a:prstGeom>
          <a:noFill/>
          <a:ln/>
        </p:spPr>
        <p:txBody>
          <a:bodyPr wrap="square" lIns="102108" tIns="85090" rIns="102108" bIns="85090" rtlCol="0" anchor="ctr">
            <a:spAutoFit/>
          </a:bodyPr>
          <a:lstStyle/>
          <a:p>
            <a:pPr marL="0" indent="0" algn="l">
              <a:buNone/>
            </a:pPr>
            <a:r>
              <a:rPr lang="en-US" sz="850" dirty="0">
                <a:solidFill>
                  <a:srgbClr val="334155"/>
                </a:solidFill>
                <a:latin typeface="Inter" pitchFamily="34" charset="0"/>
                <a:ea typeface="Inter" pitchFamily="34" charset="-122"/>
                <a:cs typeface="Inter" pitchFamily="34" charset="-120"/>
              </a:rPr>
              <a:t>charlie@email.com</a:t>
            </a:r>
            <a:endParaRPr lang="en-US" sz="850" dirty="0"/>
          </a:p>
        </p:txBody>
      </p:sp>
      <p:sp>
        <p:nvSpPr>
          <p:cNvPr id="46" name="Text 38"/>
          <p:cNvSpPr/>
          <p:nvPr/>
        </p:nvSpPr>
        <p:spPr>
          <a:xfrm>
            <a:off x="7869678" y="2545603"/>
            <a:ext cx="817122" cy="287536"/>
          </a:xfrm>
          <a:prstGeom prst="rect">
            <a:avLst/>
          </a:prstGeom>
          <a:noFill/>
          <a:ln/>
        </p:spPr>
        <p:txBody>
          <a:bodyPr wrap="none" lIns="102108" tIns="85090" rIns="102108" bIns="85090" rtlCol="0" anchor="ctr">
            <a:spAutoFit/>
          </a:bodyPr>
          <a:lstStyle/>
          <a:p>
            <a:pPr marL="0" indent="0" algn="l">
              <a:buNone/>
            </a:pPr>
            <a:r>
              <a:rPr lang="en-US" sz="850" dirty="0">
                <a:solidFill>
                  <a:srgbClr val="334155"/>
                </a:solidFill>
                <a:latin typeface="Inter" pitchFamily="34" charset="0"/>
                <a:ea typeface="Inter" pitchFamily="34" charset="-122"/>
                <a:cs typeface="Inter" pitchFamily="34" charset="-120"/>
              </a:rPr>
              <a:t>Paris</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7144"/>
            <a:ext cx="9144000" cy="5143500"/>
          </a:xfrm>
          <a:prstGeom prst="rect">
            <a:avLst/>
          </a:prstGeom>
        </p:spPr>
      </p:pic>
      <p:sp>
        <p:nvSpPr>
          <p:cNvPr id="4" name="Text 0"/>
          <p:cNvSpPr/>
          <p:nvPr/>
        </p:nvSpPr>
        <p:spPr>
          <a:xfrm>
            <a:off x="571500" y="634650"/>
            <a:ext cx="8572500" cy="414338"/>
          </a:xfrm>
          <a:prstGeom prst="rect">
            <a:avLst/>
          </a:prstGeom>
          <a:noFill/>
          <a:ln/>
        </p:spPr>
        <p:txBody>
          <a:bodyPr wrap="square" lIns="0" tIns="0" rIns="0" bIns="0" rtlCol="0" anchor="t">
            <a:spAutoFit/>
          </a:bodyPr>
          <a:lstStyle/>
          <a:p>
            <a:pPr marL="0" indent="0" algn="l">
              <a:buNone/>
            </a:pPr>
            <a:r>
              <a:rPr lang="en-US" sz="2450" b="1" dirty="0">
                <a:solidFill>
                  <a:srgbClr val="1E293B"/>
                </a:solidFill>
                <a:latin typeface="Inter Bold" pitchFamily="34" charset="0"/>
                <a:ea typeface="Inter Bold" pitchFamily="34" charset="-122"/>
                <a:cs typeface="Inter Bold" pitchFamily="34" charset="-120"/>
              </a:rPr>
              <a:t>The Star Schema</a:t>
            </a:r>
            <a:endParaRPr lang="en-US" sz="2450" dirty="0"/>
          </a:p>
        </p:txBody>
      </p:sp>
      <p:sp>
        <p:nvSpPr>
          <p:cNvPr id="5" name="Shape 1"/>
          <p:cNvSpPr/>
          <p:nvPr/>
        </p:nvSpPr>
        <p:spPr>
          <a:xfrm>
            <a:off x="3700463" y="1263300"/>
            <a:ext cx="1743075" cy="905470"/>
          </a:xfrm>
          <a:prstGeom prst="rect">
            <a:avLst/>
          </a:prstGeom>
          <a:solidFill>
            <a:srgbClr val="ECFDF5"/>
          </a:solidFill>
          <a:ln w="18288">
            <a:solidFill>
              <a:srgbClr val="10B981"/>
            </a:solidFill>
            <a:prstDash val="solid"/>
          </a:ln>
        </p:spPr>
        <p:txBody>
          <a:bodyPr/>
          <a:lstStyle/>
          <a:p>
            <a:endParaRPr lang="en-GB"/>
          </a:p>
        </p:txBody>
      </p:sp>
      <p:pic>
        <p:nvPicPr>
          <p:cNvPr id="6" name="Image 1" descr="preencoded.png"/>
          <p:cNvPicPr>
            <a:picLocks noChangeAspect="1"/>
          </p:cNvPicPr>
          <p:nvPr/>
        </p:nvPicPr>
        <p:blipFill>
          <a:blip r:embed="rId4"/>
          <a:stretch>
            <a:fillRect/>
          </a:stretch>
        </p:blipFill>
        <p:spPr>
          <a:xfrm>
            <a:off x="4478238" y="1425820"/>
            <a:ext cx="187523" cy="214313"/>
          </a:xfrm>
          <a:prstGeom prst="rect">
            <a:avLst/>
          </a:prstGeom>
        </p:spPr>
      </p:pic>
      <p:sp>
        <p:nvSpPr>
          <p:cNvPr id="7" name="Text 2"/>
          <p:cNvSpPr/>
          <p:nvPr/>
        </p:nvSpPr>
        <p:spPr>
          <a:xfrm>
            <a:off x="3857625" y="1736573"/>
            <a:ext cx="1428750" cy="189309"/>
          </a:xfrm>
          <a:prstGeom prst="rect">
            <a:avLst/>
          </a:prstGeom>
          <a:noFill/>
          <a:ln/>
        </p:spPr>
        <p:txBody>
          <a:bodyPr wrap="square" lIns="0" tIns="0" rIns="0" bIns="0" rtlCol="0" anchor="t">
            <a:spAutoFit/>
          </a:bodyPr>
          <a:lstStyle/>
          <a:p>
            <a:pPr marL="0" indent="0" algn="ctr">
              <a:buNone/>
            </a:pPr>
            <a:r>
              <a:rPr lang="en-US" sz="1100" b="1" dirty="0">
                <a:solidFill>
                  <a:srgbClr val="1E293B"/>
                </a:solidFill>
                <a:latin typeface="Inter Bold" pitchFamily="34" charset="0"/>
                <a:ea typeface="Inter Bold" pitchFamily="34" charset="-122"/>
                <a:cs typeface="Inter Bold" pitchFamily="34" charset="-120"/>
              </a:rPr>
              <a:t>Date</a:t>
            </a:r>
            <a:endParaRPr lang="en-US" sz="1100" dirty="0"/>
          </a:p>
        </p:txBody>
      </p:sp>
      <p:sp>
        <p:nvSpPr>
          <p:cNvPr id="8" name="Shape 3"/>
          <p:cNvSpPr/>
          <p:nvPr/>
        </p:nvSpPr>
        <p:spPr>
          <a:xfrm>
            <a:off x="1428750" y="2440791"/>
            <a:ext cx="1743075" cy="905470"/>
          </a:xfrm>
          <a:prstGeom prst="rect">
            <a:avLst/>
          </a:prstGeom>
          <a:solidFill>
            <a:srgbClr val="ECFDF5"/>
          </a:solidFill>
          <a:ln w="18288">
            <a:solidFill>
              <a:srgbClr val="10B981"/>
            </a:solidFill>
            <a:prstDash val="solid"/>
          </a:ln>
        </p:spPr>
        <p:txBody>
          <a:bodyPr/>
          <a:lstStyle/>
          <a:p>
            <a:endParaRPr lang="en-GB"/>
          </a:p>
        </p:txBody>
      </p:sp>
      <p:pic>
        <p:nvPicPr>
          <p:cNvPr id="9" name="Image 2" descr="preencoded.png"/>
          <p:cNvPicPr>
            <a:picLocks noChangeAspect="1"/>
          </p:cNvPicPr>
          <p:nvPr/>
        </p:nvPicPr>
        <p:blipFill>
          <a:blip r:embed="rId5"/>
          <a:stretch>
            <a:fillRect/>
          </a:stretch>
        </p:blipFill>
        <p:spPr>
          <a:xfrm>
            <a:off x="2152055" y="2617598"/>
            <a:ext cx="267891" cy="214313"/>
          </a:xfrm>
          <a:prstGeom prst="rect">
            <a:avLst/>
          </a:prstGeom>
        </p:spPr>
      </p:pic>
      <p:sp>
        <p:nvSpPr>
          <p:cNvPr id="10" name="Text 4"/>
          <p:cNvSpPr/>
          <p:nvPr/>
        </p:nvSpPr>
        <p:spPr>
          <a:xfrm>
            <a:off x="1571625" y="2928351"/>
            <a:ext cx="1428750" cy="189309"/>
          </a:xfrm>
          <a:prstGeom prst="rect">
            <a:avLst/>
          </a:prstGeom>
          <a:noFill/>
          <a:ln/>
        </p:spPr>
        <p:txBody>
          <a:bodyPr wrap="square" lIns="0" tIns="0" rIns="0" bIns="0" rtlCol="0" anchor="t">
            <a:spAutoFit/>
          </a:bodyPr>
          <a:lstStyle/>
          <a:p>
            <a:pPr marL="0" indent="0" algn="ctr">
              <a:buNone/>
            </a:pPr>
            <a:r>
              <a:rPr lang="en-US" sz="1100" b="1" dirty="0">
                <a:solidFill>
                  <a:srgbClr val="1E293B"/>
                </a:solidFill>
                <a:latin typeface="Inter Bold" pitchFamily="34" charset="0"/>
                <a:ea typeface="Inter Bold" pitchFamily="34" charset="-122"/>
                <a:cs typeface="Inter Bold" pitchFamily="34" charset="-120"/>
              </a:rPr>
              <a:t>Customers</a:t>
            </a:r>
            <a:endParaRPr lang="en-US" sz="1100" dirty="0"/>
          </a:p>
        </p:txBody>
      </p:sp>
      <p:sp>
        <p:nvSpPr>
          <p:cNvPr id="11" name="Shape 5"/>
          <p:cNvSpPr/>
          <p:nvPr/>
        </p:nvSpPr>
        <p:spPr>
          <a:xfrm>
            <a:off x="3550444" y="2372925"/>
            <a:ext cx="2043113" cy="1041202"/>
          </a:xfrm>
          <a:prstGeom prst="rect">
            <a:avLst/>
          </a:prstGeom>
          <a:solidFill>
            <a:srgbClr val="EFF6FF"/>
          </a:solidFill>
          <a:ln w="18288">
            <a:solidFill>
              <a:srgbClr val="3B82F6"/>
            </a:solidFill>
            <a:prstDash val="solid"/>
          </a:ln>
        </p:spPr>
        <p:txBody>
          <a:bodyPr/>
          <a:lstStyle/>
          <a:p>
            <a:endParaRPr lang="en-GB"/>
          </a:p>
        </p:txBody>
      </p:sp>
      <p:pic>
        <p:nvPicPr>
          <p:cNvPr id="12" name="Image 3" descr="preencoded.png"/>
          <p:cNvPicPr>
            <a:picLocks noChangeAspect="1"/>
          </p:cNvPicPr>
          <p:nvPr/>
        </p:nvPicPr>
        <p:blipFill>
          <a:blip r:embed="rId6"/>
          <a:stretch>
            <a:fillRect/>
          </a:stretch>
        </p:blipFill>
        <p:spPr>
          <a:xfrm>
            <a:off x="4491633" y="2556876"/>
            <a:ext cx="160734" cy="214313"/>
          </a:xfrm>
          <a:prstGeom prst="rect">
            <a:avLst/>
          </a:prstGeom>
        </p:spPr>
      </p:pic>
      <p:sp>
        <p:nvSpPr>
          <p:cNvPr id="13" name="Text 6"/>
          <p:cNvSpPr/>
          <p:nvPr/>
        </p:nvSpPr>
        <p:spPr>
          <a:xfrm>
            <a:off x="3714750" y="2867630"/>
            <a:ext cx="1714500" cy="189309"/>
          </a:xfrm>
          <a:prstGeom prst="rect">
            <a:avLst/>
          </a:prstGeom>
          <a:noFill/>
          <a:ln/>
        </p:spPr>
        <p:txBody>
          <a:bodyPr wrap="square" lIns="0" tIns="0" rIns="0" bIns="0" rtlCol="0" anchor="t">
            <a:spAutoFit/>
          </a:bodyPr>
          <a:lstStyle/>
          <a:p>
            <a:pPr marL="0" indent="0" algn="ctr">
              <a:buNone/>
            </a:pPr>
            <a:r>
              <a:rPr lang="en-US" sz="1100" b="1" dirty="0">
                <a:solidFill>
                  <a:srgbClr val="1E293B"/>
                </a:solidFill>
                <a:latin typeface="Inter Bold" pitchFamily="34" charset="0"/>
                <a:ea typeface="Inter Bold" pitchFamily="34" charset="-122"/>
                <a:cs typeface="Inter Bold" pitchFamily="34" charset="-120"/>
              </a:rPr>
              <a:t>Sales (Fact)</a:t>
            </a:r>
            <a:endParaRPr lang="en-US" sz="1100" dirty="0"/>
          </a:p>
        </p:txBody>
      </p:sp>
      <p:sp>
        <p:nvSpPr>
          <p:cNvPr id="14" name="Text 7"/>
          <p:cNvSpPr/>
          <p:nvPr/>
        </p:nvSpPr>
        <p:spPr>
          <a:xfrm>
            <a:off x="3714750" y="3128376"/>
            <a:ext cx="1714500" cy="121444"/>
          </a:xfrm>
          <a:prstGeom prst="rect">
            <a:avLst/>
          </a:prstGeom>
          <a:noFill/>
          <a:ln/>
        </p:spPr>
        <p:txBody>
          <a:bodyPr wrap="square" lIns="0" tIns="0" rIns="0" bIns="0" rtlCol="0" anchor="t">
            <a:spAutoFit/>
          </a:bodyPr>
          <a:lstStyle/>
          <a:p>
            <a:pPr marL="0" indent="0" algn="ctr">
              <a:buNone/>
            </a:pPr>
            <a:r>
              <a:rPr lang="en-US" sz="750" dirty="0">
                <a:solidFill>
                  <a:srgbClr val="64748B"/>
                </a:solidFill>
                <a:latin typeface="Inter" pitchFamily="34" charset="0"/>
                <a:ea typeface="Inter" pitchFamily="34" charset="-122"/>
                <a:cs typeface="Inter" pitchFamily="34" charset="-120"/>
              </a:rPr>
              <a:t>The "What Happened"</a:t>
            </a:r>
            <a:endParaRPr lang="en-US" sz="750" dirty="0"/>
          </a:p>
        </p:txBody>
      </p:sp>
      <p:sp>
        <p:nvSpPr>
          <p:cNvPr id="15" name="Shape 8"/>
          <p:cNvSpPr/>
          <p:nvPr/>
        </p:nvSpPr>
        <p:spPr>
          <a:xfrm>
            <a:off x="5972175" y="2440791"/>
            <a:ext cx="1743075" cy="905470"/>
          </a:xfrm>
          <a:prstGeom prst="rect">
            <a:avLst/>
          </a:prstGeom>
          <a:solidFill>
            <a:srgbClr val="ECFDF5"/>
          </a:solidFill>
          <a:ln w="18288">
            <a:solidFill>
              <a:srgbClr val="10B981"/>
            </a:solidFill>
            <a:prstDash val="solid"/>
          </a:ln>
        </p:spPr>
        <p:txBody>
          <a:bodyPr/>
          <a:lstStyle/>
          <a:p>
            <a:endParaRPr lang="en-GB"/>
          </a:p>
        </p:txBody>
      </p:sp>
      <p:pic>
        <p:nvPicPr>
          <p:cNvPr id="16" name="Image 4" descr="preencoded.png"/>
          <p:cNvPicPr>
            <a:picLocks noChangeAspect="1"/>
          </p:cNvPicPr>
          <p:nvPr/>
        </p:nvPicPr>
        <p:blipFill>
          <a:blip r:embed="rId7"/>
          <a:stretch>
            <a:fillRect/>
          </a:stretch>
        </p:blipFill>
        <p:spPr>
          <a:xfrm>
            <a:off x="6724055" y="2617598"/>
            <a:ext cx="267891" cy="214313"/>
          </a:xfrm>
          <a:prstGeom prst="rect">
            <a:avLst/>
          </a:prstGeom>
        </p:spPr>
      </p:pic>
      <p:sp>
        <p:nvSpPr>
          <p:cNvPr id="17" name="Text 9"/>
          <p:cNvSpPr/>
          <p:nvPr/>
        </p:nvSpPr>
        <p:spPr>
          <a:xfrm>
            <a:off x="6143625" y="2928351"/>
            <a:ext cx="1428750" cy="189309"/>
          </a:xfrm>
          <a:prstGeom prst="rect">
            <a:avLst/>
          </a:prstGeom>
          <a:noFill/>
          <a:ln/>
        </p:spPr>
        <p:txBody>
          <a:bodyPr wrap="square" lIns="0" tIns="0" rIns="0" bIns="0" rtlCol="0" anchor="t">
            <a:spAutoFit/>
          </a:bodyPr>
          <a:lstStyle/>
          <a:p>
            <a:pPr marL="0" indent="0" algn="ctr">
              <a:buNone/>
            </a:pPr>
            <a:r>
              <a:rPr lang="en-US" sz="1100" b="1" dirty="0">
                <a:solidFill>
                  <a:srgbClr val="1E293B"/>
                </a:solidFill>
                <a:latin typeface="Inter Bold" pitchFamily="34" charset="0"/>
                <a:ea typeface="Inter Bold" pitchFamily="34" charset="-122"/>
                <a:cs typeface="Inter Bold" pitchFamily="34" charset="-120"/>
              </a:rPr>
              <a:t>Products</a:t>
            </a:r>
            <a:endParaRPr lang="en-US" sz="1100" dirty="0"/>
          </a:p>
        </p:txBody>
      </p:sp>
      <p:sp>
        <p:nvSpPr>
          <p:cNvPr id="18" name="Shape 10"/>
          <p:cNvSpPr/>
          <p:nvPr/>
        </p:nvSpPr>
        <p:spPr>
          <a:xfrm>
            <a:off x="3686175" y="3273038"/>
            <a:ext cx="1743075" cy="905470"/>
          </a:xfrm>
          <a:prstGeom prst="rect">
            <a:avLst/>
          </a:prstGeom>
          <a:solidFill>
            <a:srgbClr val="ECFDF5"/>
          </a:solidFill>
          <a:ln w="18288">
            <a:solidFill>
              <a:srgbClr val="10B981"/>
            </a:solidFill>
            <a:prstDash val="solid"/>
          </a:ln>
        </p:spPr>
        <p:txBody>
          <a:bodyPr/>
          <a:lstStyle/>
          <a:p>
            <a:endParaRPr lang="en-GB"/>
          </a:p>
        </p:txBody>
      </p:sp>
      <p:pic>
        <p:nvPicPr>
          <p:cNvPr id="19" name="Image 5" descr="preencoded.png"/>
          <p:cNvPicPr>
            <a:picLocks noChangeAspect="1"/>
          </p:cNvPicPr>
          <p:nvPr/>
        </p:nvPicPr>
        <p:blipFill>
          <a:blip r:embed="rId8"/>
          <a:stretch>
            <a:fillRect/>
          </a:stretch>
        </p:blipFill>
        <p:spPr>
          <a:xfrm>
            <a:off x="4451449" y="3380780"/>
            <a:ext cx="241102" cy="214313"/>
          </a:xfrm>
          <a:prstGeom prst="rect">
            <a:avLst/>
          </a:prstGeom>
        </p:spPr>
      </p:pic>
      <p:sp>
        <p:nvSpPr>
          <p:cNvPr id="20" name="Text 11"/>
          <p:cNvSpPr/>
          <p:nvPr/>
        </p:nvSpPr>
        <p:spPr>
          <a:xfrm>
            <a:off x="3857625" y="3691533"/>
            <a:ext cx="1428750" cy="189309"/>
          </a:xfrm>
          <a:prstGeom prst="rect">
            <a:avLst/>
          </a:prstGeom>
          <a:noFill/>
          <a:ln/>
        </p:spPr>
        <p:txBody>
          <a:bodyPr wrap="square" lIns="0" tIns="0" rIns="0" bIns="0" rtlCol="0" anchor="t">
            <a:spAutoFit/>
          </a:bodyPr>
          <a:lstStyle/>
          <a:p>
            <a:pPr marL="0" indent="0" algn="ctr">
              <a:buNone/>
            </a:pPr>
            <a:r>
              <a:rPr lang="en-US" sz="1100" b="1" dirty="0">
                <a:solidFill>
                  <a:srgbClr val="1E293B"/>
                </a:solidFill>
                <a:latin typeface="Inter Bold" pitchFamily="34" charset="0"/>
                <a:ea typeface="Inter Bold" pitchFamily="34" charset="-122"/>
                <a:cs typeface="Inter Bold" pitchFamily="34" charset="-120"/>
              </a:rPr>
              <a:t>Stores</a:t>
            </a:r>
            <a:endParaRPr lang="en-US" sz="1100" dirty="0"/>
          </a:p>
        </p:txBody>
      </p:sp>
      <p:sp>
        <p:nvSpPr>
          <p:cNvPr id="21" name="Shape 12"/>
          <p:cNvSpPr/>
          <p:nvPr/>
        </p:nvSpPr>
        <p:spPr>
          <a:xfrm>
            <a:off x="1649313" y="4809530"/>
            <a:ext cx="2034183" cy="326827"/>
          </a:xfrm>
          <a:prstGeom prst="roundRect">
            <a:avLst/>
          </a:prstGeom>
          <a:solidFill>
            <a:srgbClr val="3B82F6"/>
          </a:solidFill>
          <a:ln/>
        </p:spPr>
        <p:txBody>
          <a:bodyPr/>
          <a:lstStyle/>
          <a:p>
            <a:endParaRPr lang="en-GB"/>
          </a:p>
        </p:txBody>
      </p:sp>
      <p:sp>
        <p:nvSpPr>
          <p:cNvPr id="22" name="Text 13"/>
          <p:cNvSpPr/>
          <p:nvPr/>
        </p:nvSpPr>
        <p:spPr>
          <a:xfrm>
            <a:off x="1649313" y="4809530"/>
            <a:ext cx="2034183" cy="326827"/>
          </a:xfrm>
          <a:prstGeom prst="rect">
            <a:avLst/>
          </a:prstGeom>
          <a:noFill/>
          <a:ln/>
        </p:spPr>
        <p:txBody>
          <a:bodyPr wrap="square" lIns="212598" tIns="102108" rIns="212598" bIns="102108" rtlCol="0" anchor="t">
            <a:spAutoFit/>
          </a:bodyPr>
          <a:lstStyle/>
          <a:p>
            <a:pPr marL="0" indent="0" algn="l">
              <a:buNone/>
            </a:pPr>
            <a:r>
              <a:rPr lang="en-US" sz="900" b="1" dirty="0">
                <a:solidFill>
                  <a:srgbClr val="FFFFFF"/>
                </a:solidFill>
                <a:latin typeface="Inter Bold" pitchFamily="34" charset="0"/>
                <a:ea typeface="Inter Bold" pitchFamily="34" charset="-122"/>
                <a:cs typeface="Inter Bold" pitchFamily="34" charset="-120"/>
              </a:rPr>
              <a:t>Gold Standard for Power BI</a:t>
            </a:r>
            <a:endParaRPr lang="en-US" sz="900" dirty="0"/>
          </a:p>
        </p:txBody>
      </p:sp>
      <p:sp>
        <p:nvSpPr>
          <p:cNvPr id="23" name="Shape 14"/>
          <p:cNvSpPr/>
          <p:nvPr/>
        </p:nvSpPr>
        <p:spPr>
          <a:xfrm>
            <a:off x="3969246" y="4809530"/>
            <a:ext cx="2039541" cy="326827"/>
          </a:xfrm>
          <a:prstGeom prst="roundRect">
            <a:avLst/>
          </a:prstGeom>
          <a:solidFill>
            <a:srgbClr val="3B82F6"/>
          </a:solidFill>
          <a:ln/>
        </p:spPr>
        <p:txBody>
          <a:bodyPr/>
          <a:lstStyle/>
          <a:p>
            <a:endParaRPr lang="en-GB"/>
          </a:p>
        </p:txBody>
      </p:sp>
      <p:sp>
        <p:nvSpPr>
          <p:cNvPr id="24" name="Text 15"/>
          <p:cNvSpPr/>
          <p:nvPr/>
        </p:nvSpPr>
        <p:spPr>
          <a:xfrm>
            <a:off x="3969246" y="4809530"/>
            <a:ext cx="2039541" cy="326827"/>
          </a:xfrm>
          <a:prstGeom prst="rect">
            <a:avLst/>
          </a:prstGeom>
          <a:noFill/>
          <a:ln/>
        </p:spPr>
        <p:txBody>
          <a:bodyPr wrap="square" lIns="212598" tIns="102108" rIns="212598" bIns="102108" rtlCol="0" anchor="t">
            <a:spAutoFit/>
          </a:bodyPr>
          <a:lstStyle/>
          <a:p>
            <a:pPr marL="0" indent="0" algn="l">
              <a:buNone/>
            </a:pPr>
            <a:r>
              <a:rPr lang="en-US" sz="900" b="1" dirty="0">
                <a:solidFill>
                  <a:srgbClr val="FFFFFF"/>
                </a:solidFill>
                <a:latin typeface="Inter Bold" pitchFamily="34" charset="0"/>
                <a:ea typeface="Inter Bold" pitchFamily="34" charset="-122"/>
                <a:cs typeface="Inter Bold" pitchFamily="34" charset="-120"/>
              </a:rPr>
              <a:t>Connected by "Keys" (IDs)</a:t>
            </a:r>
            <a:endParaRPr lang="en-US" sz="900" dirty="0"/>
          </a:p>
        </p:txBody>
      </p:sp>
      <p:sp>
        <p:nvSpPr>
          <p:cNvPr id="25" name="Shape 16"/>
          <p:cNvSpPr/>
          <p:nvPr/>
        </p:nvSpPr>
        <p:spPr>
          <a:xfrm>
            <a:off x="6294537" y="4809530"/>
            <a:ext cx="1200150" cy="326827"/>
          </a:xfrm>
          <a:prstGeom prst="roundRect">
            <a:avLst/>
          </a:prstGeom>
          <a:solidFill>
            <a:srgbClr val="3B82F6"/>
          </a:solidFill>
          <a:ln/>
        </p:spPr>
        <p:txBody>
          <a:bodyPr/>
          <a:lstStyle/>
          <a:p>
            <a:endParaRPr lang="en-GB"/>
          </a:p>
        </p:txBody>
      </p:sp>
      <p:sp>
        <p:nvSpPr>
          <p:cNvPr id="26" name="Text 17"/>
          <p:cNvSpPr/>
          <p:nvPr/>
        </p:nvSpPr>
        <p:spPr>
          <a:xfrm>
            <a:off x="6294537" y="4809530"/>
            <a:ext cx="1200150" cy="326827"/>
          </a:xfrm>
          <a:prstGeom prst="rect">
            <a:avLst/>
          </a:prstGeom>
          <a:noFill/>
          <a:ln/>
        </p:spPr>
        <p:txBody>
          <a:bodyPr wrap="none" lIns="212598" tIns="102108" rIns="212598" bIns="102108" rtlCol="0" anchor="t">
            <a:spAutoFit/>
          </a:bodyPr>
          <a:lstStyle/>
          <a:p>
            <a:pPr marL="0" indent="0" algn="l">
              <a:buNone/>
            </a:pPr>
            <a:r>
              <a:rPr lang="en-US" sz="900" b="1" dirty="0">
                <a:solidFill>
                  <a:srgbClr val="FFFFFF"/>
                </a:solidFill>
                <a:latin typeface="Inter Bold" pitchFamily="34" charset="0"/>
                <a:ea typeface="Inter Bold" pitchFamily="34" charset="-122"/>
                <a:cs typeface="Inter Bold" pitchFamily="34" charset="-120"/>
              </a:rPr>
              <a:t>Simple &amp; Fast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7144"/>
            <a:ext cx="9144000" cy="5143500"/>
          </a:xfrm>
          <a:prstGeom prst="rect">
            <a:avLst/>
          </a:prstGeom>
        </p:spPr>
      </p:pic>
      <p:sp>
        <p:nvSpPr>
          <p:cNvPr id="4" name="Text 0"/>
          <p:cNvSpPr/>
          <p:nvPr/>
        </p:nvSpPr>
        <p:spPr>
          <a:xfrm>
            <a:off x="571500" y="706087"/>
            <a:ext cx="8572500" cy="414338"/>
          </a:xfrm>
          <a:prstGeom prst="rect">
            <a:avLst/>
          </a:prstGeom>
          <a:noFill/>
          <a:ln/>
        </p:spPr>
        <p:txBody>
          <a:bodyPr wrap="square" lIns="0" tIns="0" rIns="0" bIns="0" rtlCol="0" anchor="t">
            <a:spAutoFit/>
          </a:bodyPr>
          <a:lstStyle/>
          <a:p>
            <a:pPr marL="0" indent="0" algn="l">
              <a:buNone/>
            </a:pPr>
            <a:r>
              <a:rPr lang="en-US" sz="2450" b="1" dirty="0">
                <a:solidFill>
                  <a:srgbClr val="1E293B"/>
                </a:solidFill>
                <a:latin typeface="Inter Bold" pitchFamily="34" charset="0"/>
                <a:ea typeface="Inter Bold" pitchFamily="34" charset="-122"/>
                <a:cs typeface="Inter Bold" pitchFamily="34" charset="-120"/>
              </a:rPr>
              <a:t>Why Bother? (The Benefits)</a:t>
            </a:r>
            <a:endParaRPr lang="en-US" sz="2450" dirty="0"/>
          </a:p>
        </p:txBody>
      </p:sp>
      <p:sp>
        <p:nvSpPr>
          <p:cNvPr id="5" name="Shape 1"/>
          <p:cNvSpPr/>
          <p:nvPr/>
        </p:nvSpPr>
        <p:spPr>
          <a:xfrm>
            <a:off x="571500" y="1620487"/>
            <a:ext cx="2476509" cy="3143250"/>
          </a:xfrm>
          <a:prstGeom prst="rect">
            <a:avLst/>
          </a:prstGeom>
          <a:solidFill>
            <a:srgbClr val="FFFFFF"/>
          </a:solidFill>
          <a:ln/>
        </p:spPr>
        <p:txBody>
          <a:bodyPr/>
          <a:lstStyle/>
          <a:p>
            <a:endParaRPr lang="en-GB"/>
          </a:p>
        </p:txBody>
      </p:sp>
      <p:sp>
        <p:nvSpPr>
          <p:cNvPr id="6" name="Shape 2"/>
          <p:cNvSpPr/>
          <p:nvPr/>
        </p:nvSpPr>
        <p:spPr>
          <a:xfrm>
            <a:off x="1452553" y="1906237"/>
            <a:ext cx="714375" cy="714375"/>
          </a:xfrm>
          <a:prstGeom prst="ellipse">
            <a:avLst/>
          </a:prstGeom>
          <a:solidFill>
            <a:srgbClr val="EFF6FF"/>
          </a:solidFill>
          <a:ln/>
        </p:spPr>
        <p:txBody>
          <a:bodyPr/>
          <a:lstStyle/>
          <a:p>
            <a:endParaRPr lang="en-GB"/>
          </a:p>
        </p:txBody>
      </p:sp>
      <p:pic>
        <p:nvPicPr>
          <p:cNvPr id="7" name="Image 1" descr="preencoded.png"/>
          <p:cNvPicPr>
            <a:picLocks noChangeAspect="1"/>
          </p:cNvPicPr>
          <p:nvPr/>
        </p:nvPicPr>
        <p:blipFill>
          <a:blip r:embed="rId4"/>
          <a:stretch>
            <a:fillRect/>
          </a:stretch>
        </p:blipFill>
        <p:spPr>
          <a:xfrm>
            <a:off x="1666866" y="2120550"/>
            <a:ext cx="285750" cy="285750"/>
          </a:xfrm>
          <a:prstGeom prst="rect">
            <a:avLst/>
          </a:prstGeom>
        </p:spPr>
      </p:pic>
      <p:sp>
        <p:nvSpPr>
          <p:cNvPr id="8" name="Text 3"/>
          <p:cNvSpPr/>
          <p:nvPr/>
        </p:nvSpPr>
        <p:spPr>
          <a:xfrm>
            <a:off x="1342718" y="2834925"/>
            <a:ext cx="934045" cy="242888"/>
          </a:xfrm>
          <a:prstGeom prst="rect">
            <a:avLst/>
          </a:prstGeom>
          <a:noFill/>
          <a:ln/>
        </p:spPr>
        <p:txBody>
          <a:bodyPr wrap="none" lIns="0" tIns="0" rIns="0" bIns="0" rtlCol="0" anchor="t">
            <a:spAutoFit/>
          </a:bodyPr>
          <a:lstStyle/>
          <a:p>
            <a:pPr marL="0" indent="0" algn="ctr">
              <a:buNone/>
            </a:pPr>
            <a:r>
              <a:rPr lang="en-US" sz="1400" b="1" dirty="0">
                <a:solidFill>
                  <a:srgbClr val="1E293B"/>
                </a:solidFill>
                <a:latin typeface="Inter Bold" pitchFamily="34" charset="0"/>
                <a:ea typeface="Inter Bold" pitchFamily="34" charset="-122"/>
                <a:cs typeface="Inter Bold" pitchFamily="34" charset="-120"/>
              </a:rPr>
              <a:t>Accuracy</a:t>
            </a:r>
            <a:endParaRPr lang="en-US" sz="1400" dirty="0"/>
          </a:p>
        </p:txBody>
      </p:sp>
      <p:sp>
        <p:nvSpPr>
          <p:cNvPr id="9" name="Text 4"/>
          <p:cNvSpPr/>
          <p:nvPr/>
        </p:nvSpPr>
        <p:spPr>
          <a:xfrm>
            <a:off x="785813" y="3363562"/>
            <a:ext cx="2047884" cy="914400"/>
          </a:xfrm>
          <a:prstGeom prst="rect">
            <a:avLst/>
          </a:prstGeom>
          <a:noFill/>
          <a:ln/>
        </p:spPr>
        <p:txBody>
          <a:bodyPr wrap="square" lIns="0" tIns="0" rIns="0" bIns="0" rtlCol="0" anchor="t">
            <a:spAutoFit/>
          </a:bodyPr>
          <a:lstStyle/>
          <a:p>
            <a:pPr marL="0" indent="0" algn="ctr">
              <a:lnSpc>
                <a:spcPct val="128000"/>
              </a:lnSpc>
              <a:buNone/>
            </a:pPr>
            <a:r>
              <a:rPr lang="en-US" sz="1050" dirty="0">
                <a:solidFill>
                  <a:srgbClr val="475569"/>
                </a:solidFill>
                <a:latin typeface="Inter" pitchFamily="34" charset="0"/>
                <a:ea typeface="Inter" pitchFamily="34" charset="-122"/>
                <a:cs typeface="Inter" pitchFamily="34" charset="-120"/>
              </a:rPr>
              <a:t>Update a customer's email in </a:t>
            </a:r>
            <a:r>
              <a:rPr lang="en-US" sz="1000" b="1" dirty="0">
                <a:solidFill>
                  <a:srgbClr val="475569"/>
                </a:solidFill>
                <a:latin typeface="Inter Bold" pitchFamily="34" charset="0"/>
                <a:ea typeface="Inter Bold" pitchFamily="34" charset="-122"/>
                <a:cs typeface="Inter Bold" pitchFamily="34" charset="-120"/>
              </a:rPr>
              <a:t>one place</a:t>
            </a:r>
            <a:r>
              <a:rPr lang="en-US" sz="1050" dirty="0">
                <a:solidFill>
                  <a:srgbClr val="475569"/>
                </a:solidFill>
                <a:latin typeface="Inter" pitchFamily="34" charset="0"/>
                <a:ea typeface="Inter" pitchFamily="34" charset="-122"/>
                <a:cs typeface="Inter" pitchFamily="34" charset="-120"/>
              </a:rPr>
              <a:t>, and it updates across every single report automatically.</a:t>
            </a:r>
            <a:endParaRPr lang="en-US" sz="1050" dirty="0"/>
          </a:p>
        </p:txBody>
      </p:sp>
      <p:sp>
        <p:nvSpPr>
          <p:cNvPr id="10" name="Shape 5"/>
          <p:cNvSpPr/>
          <p:nvPr/>
        </p:nvSpPr>
        <p:spPr>
          <a:xfrm>
            <a:off x="3333759" y="1620487"/>
            <a:ext cx="2476509" cy="3143250"/>
          </a:xfrm>
          <a:prstGeom prst="rect">
            <a:avLst/>
          </a:prstGeom>
          <a:solidFill>
            <a:srgbClr val="FFFFFF"/>
          </a:solidFill>
          <a:ln/>
        </p:spPr>
        <p:txBody>
          <a:bodyPr/>
          <a:lstStyle/>
          <a:p>
            <a:endParaRPr lang="en-GB"/>
          </a:p>
        </p:txBody>
      </p:sp>
      <p:sp>
        <p:nvSpPr>
          <p:cNvPr id="11" name="Shape 6"/>
          <p:cNvSpPr/>
          <p:nvPr/>
        </p:nvSpPr>
        <p:spPr>
          <a:xfrm>
            <a:off x="4214813" y="1906237"/>
            <a:ext cx="714375" cy="714375"/>
          </a:xfrm>
          <a:prstGeom prst="ellipse">
            <a:avLst/>
          </a:prstGeom>
          <a:solidFill>
            <a:srgbClr val="ECFDF5"/>
          </a:solidFill>
          <a:ln/>
        </p:spPr>
        <p:txBody>
          <a:bodyPr/>
          <a:lstStyle/>
          <a:p>
            <a:endParaRPr lang="en-GB"/>
          </a:p>
        </p:txBody>
      </p:sp>
      <p:pic>
        <p:nvPicPr>
          <p:cNvPr id="12" name="Image 2" descr="preencoded.png"/>
          <p:cNvPicPr>
            <a:picLocks noChangeAspect="1"/>
          </p:cNvPicPr>
          <p:nvPr/>
        </p:nvPicPr>
        <p:blipFill>
          <a:blip r:embed="rId5"/>
          <a:stretch>
            <a:fillRect/>
          </a:stretch>
        </p:blipFill>
        <p:spPr>
          <a:xfrm>
            <a:off x="4464844" y="2120550"/>
            <a:ext cx="214313" cy="285750"/>
          </a:xfrm>
          <a:prstGeom prst="rect">
            <a:avLst/>
          </a:prstGeom>
        </p:spPr>
      </p:pic>
      <p:sp>
        <p:nvSpPr>
          <p:cNvPr id="13" name="Text 7"/>
          <p:cNvSpPr/>
          <p:nvPr/>
        </p:nvSpPr>
        <p:spPr>
          <a:xfrm>
            <a:off x="4260354" y="2834925"/>
            <a:ext cx="623292" cy="242888"/>
          </a:xfrm>
          <a:prstGeom prst="rect">
            <a:avLst/>
          </a:prstGeom>
          <a:noFill/>
          <a:ln/>
        </p:spPr>
        <p:txBody>
          <a:bodyPr wrap="none" lIns="0" tIns="0" rIns="0" bIns="0" rtlCol="0" anchor="t">
            <a:spAutoFit/>
          </a:bodyPr>
          <a:lstStyle/>
          <a:p>
            <a:pPr marL="0" indent="0" algn="ctr">
              <a:buNone/>
            </a:pPr>
            <a:r>
              <a:rPr lang="en-US" sz="1400" b="1" dirty="0">
                <a:solidFill>
                  <a:srgbClr val="1E293B"/>
                </a:solidFill>
                <a:latin typeface="Inter Bold" pitchFamily="34" charset="0"/>
                <a:ea typeface="Inter Bold" pitchFamily="34" charset="-122"/>
                <a:cs typeface="Inter Bold" pitchFamily="34" charset="-120"/>
              </a:rPr>
              <a:t>Speed</a:t>
            </a:r>
            <a:endParaRPr lang="en-US" sz="1400" dirty="0"/>
          </a:p>
        </p:txBody>
      </p:sp>
      <p:sp>
        <p:nvSpPr>
          <p:cNvPr id="14" name="Text 8"/>
          <p:cNvSpPr/>
          <p:nvPr/>
        </p:nvSpPr>
        <p:spPr>
          <a:xfrm>
            <a:off x="3548072" y="3363562"/>
            <a:ext cx="2047884" cy="914400"/>
          </a:xfrm>
          <a:prstGeom prst="rect">
            <a:avLst/>
          </a:prstGeom>
          <a:noFill/>
          <a:ln/>
        </p:spPr>
        <p:txBody>
          <a:bodyPr wrap="square" lIns="0" tIns="0" rIns="0" bIns="0" rtlCol="0" anchor="t">
            <a:spAutoFit/>
          </a:bodyPr>
          <a:lstStyle/>
          <a:p>
            <a:pPr marL="0" indent="0" algn="ctr">
              <a:lnSpc>
                <a:spcPct val="128000"/>
              </a:lnSpc>
              <a:buNone/>
            </a:pPr>
            <a:r>
              <a:rPr lang="en-US" sz="1050" dirty="0">
                <a:solidFill>
                  <a:srgbClr val="475569"/>
                </a:solidFill>
                <a:latin typeface="Inter" pitchFamily="34" charset="0"/>
                <a:ea typeface="Inter" pitchFamily="34" charset="-122"/>
                <a:cs typeface="Inter" pitchFamily="34" charset="-120"/>
              </a:rPr>
              <a:t>Power BI is optimized for organized tables. Your reports will load </a:t>
            </a:r>
            <a:r>
              <a:rPr lang="en-US" sz="1000" b="1" dirty="0">
                <a:solidFill>
                  <a:srgbClr val="475569"/>
                </a:solidFill>
                <a:latin typeface="Inter Bold" pitchFamily="34" charset="0"/>
                <a:ea typeface="Inter Bold" pitchFamily="34" charset="-122"/>
                <a:cs typeface="Inter Bold" pitchFamily="34" charset="-120"/>
              </a:rPr>
              <a:t>faster</a:t>
            </a:r>
            <a:r>
              <a:rPr lang="en-US" sz="1050" dirty="0">
                <a:solidFill>
                  <a:srgbClr val="475569"/>
                </a:solidFill>
                <a:latin typeface="Inter" pitchFamily="34" charset="0"/>
                <a:ea typeface="Inter" pitchFamily="34" charset="-122"/>
                <a:cs typeface="Inter" pitchFamily="34" charset="-120"/>
              </a:rPr>
              <a:t> and handle more data easily.</a:t>
            </a:r>
            <a:endParaRPr lang="en-US" sz="1050" dirty="0"/>
          </a:p>
        </p:txBody>
      </p:sp>
      <p:sp>
        <p:nvSpPr>
          <p:cNvPr id="15" name="Shape 9"/>
          <p:cNvSpPr/>
          <p:nvPr/>
        </p:nvSpPr>
        <p:spPr>
          <a:xfrm>
            <a:off x="6096019" y="1620487"/>
            <a:ext cx="2476509" cy="3143250"/>
          </a:xfrm>
          <a:prstGeom prst="rect">
            <a:avLst/>
          </a:prstGeom>
          <a:solidFill>
            <a:srgbClr val="FFFFFF"/>
          </a:solidFill>
          <a:ln/>
        </p:spPr>
        <p:txBody>
          <a:bodyPr/>
          <a:lstStyle/>
          <a:p>
            <a:endParaRPr lang="en-GB"/>
          </a:p>
        </p:txBody>
      </p:sp>
      <p:sp>
        <p:nvSpPr>
          <p:cNvPr id="16" name="Shape 10"/>
          <p:cNvSpPr/>
          <p:nvPr/>
        </p:nvSpPr>
        <p:spPr>
          <a:xfrm>
            <a:off x="6977072" y="1906237"/>
            <a:ext cx="714375" cy="714375"/>
          </a:xfrm>
          <a:prstGeom prst="ellipse">
            <a:avLst/>
          </a:prstGeom>
          <a:solidFill>
            <a:srgbClr val="EFF6FF"/>
          </a:solidFill>
          <a:ln/>
        </p:spPr>
        <p:txBody>
          <a:bodyPr/>
          <a:lstStyle/>
          <a:p>
            <a:endParaRPr lang="en-GB"/>
          </a:p>
        </p:txBody>
      </p:sp>
      <p:pic>
        <p:nvPicPr>
          <p:cNvPr id="17" name="Image 3" descr="preencoded.png"/>
          <p:cNvPicPr>
            <a:picLocks noChangeAspect="1"/>
          </p:cNvPicPr>
          <p:nvPr/>
        </p:nvPicPr>
        <p:blipFill>
          <a:blip r:embed="rId6"/>
          <a:stretch>
            <a:fillRect/>
          </a:stretch>
        </p:blipFill>
        <p:spPr>
          <a:xfrm>
            <a:off x="7191384" y="2120550"/>
            <a:ext cx="285750" cy="285750"/>
          </a:xfrm>
          <a:prstGeom prst="rect">
            <a:avLst/>
          </a:prstGeom>
        </p:spPr>
      </p:pic>
      <p:sp>
        <p:nvSpPr>
          <p:cNvPr id="18" name="Text 11"/>
          <p:cNvSpPr/>
          <p:nvPr/>
        </p:nvSpPr>
        <p:spPr>
          <a:xfrm>
            <a:off x="6850270" y="2834925"/>
            <a:ext cx="967978" cy="242888"/>
          </a:xfrm>
          <a:prstGeom prst="rect">
            <a:avLst/>
          </a:prstGeom>
          <a:noFill/>
          <a:ln/>
        </p:spPr>
        <p:txBody>
          <a:bodyPr wrap="none" lIns="0" tIns="0" rIns="0" bIns="0" rtlCol="0" anchor="t">
            <a:spAutoFit/>
          </a:bodyPr>
          <a:lstStyle/>
          <a:p>
            <a:pPr marL="0" indent="0" algn="ctr">
              <a:buNone/>
            </a:pPr>
            <a:r>
              <a:rPr lang="en-US" sz="1400" b="1" dirty="0">
                <a:solidFill>
                  <a:srgbClr val="1E293B"/>
                </a:solidFill>
                <a:latin typeface="Inter Bold" pitchFamily="34" charset="0"/>
                <a:ea typeface="Inter Bold" pitchFamily="34" charset="-122"/>
                <a:cs typeface="Inter Bold" pitchFamily="34" charset="-120"/>
              </a:rPr>
              <a:t>Simplicity</a:t>
            </a:r>
            <a:endParaRPr lang="en-US" sz="1400" dirty="0"/>
          </a:p>
        </p:txBody>
      </p:sp>
      <p:sp>
        <p:nvSpPr>
          <p:cNvPr id="19" name="Text 12"/>
          <p:cNvSpPr/>
          <p:nvPr/>
        </p:nvSpPr>
        <p:spPr>
          <a:xfrm>
            <a:off x="6310331" y="3363562"/>
            <a:ext cx="2047884" cy="914400"/>
          </a:xfrm>
          <a:prstGeom prst="rect">
            <a:avLst/>
          </a:prstGeom>
          <a:noFill/>
          <a:ln/>
        </p:spPr>
        <p:txBody>
          <a:bodyPr wrap="square" lIns="0" tIns="0" rIns="0" bIns="0" rtlCol="0" anchor="t">
            <a:spAutoFit/>
          </a:bodyPr>
          <a:lstStyle/>
          <a:p>
            <a:pPr marL="0" indent="0" algn="ctr">
              <a:lnSpc>
                <a:spcPct val="128000"/>
              </a:lnSpc>
              <a:buNone/>
            </a:pPr>
            <a:r>
              <a:rPr lang="en-US" sz="1050" dirty="0">
                <a:solidFill>
                  <a:srgbClr val="475569"/>
                </a:solidFill>
                <a:latin typeface="Inter" pitchFamily="34" charset="0"/>
                <a:ea typeface="Inter" pitchFamily="34" charset="-122"/>
                <a:cs typeface="Inter" pitchFamily="34" charset="-120"/>
              </a:rPr>
              <a:t>Building charts becomes a breeze. No more messy formulas to handle </a:t>
            </a:r>
            <a:r>
              <a:rPr lang="en-US" sz="1000" b="1" dirty="0">
                <a:solidFill>
                  <a:srgbClr val="475569"/>
                </a:solidFill>
                <a:latin typeface="Inter Bold" pitchFamily="34" charset="0"/>
                <a:ea typeface="Inter Bold" pitchFamily="34" charset="-122"/>
                <a:cs typeface="Inter Bold" pitchFamily="34" charset="-120"/>
              </a:rPr>
              <a:t>redundant data</a:t>
            </a:r>
            <a:r>
              <a:rPr lang="en-US" sz="1050" dirty="0">
                <a:solidFill>
                  <a:srgbClr val="475569"/>
                </a:solidFill>
                <a:latin typeface="Inter" pitchFamily="34" charset="0"/>
                <a:ea typeface="Inter" pitchFamily="34" charset="-122"/>
                <a:cs typeface="Inter" pitchFamily="34" charset="-120"/>
              </a:rPr>
              <a:t> or typos.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7144"/>
            <a:ext cx="9144000" cy="5143500"/>
          </a:xfrm>
          <a:prstGeom prst="rect">
            <a:avLst/>
          </a:prstGeom>
        </p:spPr>
      </p:pic>
      <p:sp>
        <p:nvSpPr>
          <p:cNvPr id="4" name="Text 0"/>
          <p:cNvSpPr/>
          <p:nvPr/>
        </p:nvSpPr>
        <p:spPr>
          <a:xfrm>
            <a:off x="571500" y="706087"/>
            <a:ext cx="8572500" cy="414338"/>
          </a:xfrm>
          <a:prstGeom prst="rect">
            <a:avLst/>
          </a:prstGeom>
          <a:noFill/>
          <a:ln/>
        </p:spPr>
        <p:txBody>
          <a:bodyPr wrap="square" lIns="0" tIns="0" rIns="0" bIns="0" rtlCol="0" anchor="t">
            <a:spAutoFit/>
          </a:bodyPr>
          <a:lstStyle/>
          <a:p>
            <a:pPr marL="0" indent="0" algn="l">
              <a:buNone/>
            </a:pPr>
            <a:r>
              <a:rPr lang="en-US" sz="2450" b="1" dirty="0">
                <a:solidFill>
                  <a:srgbClr val="1E293B"/>
                </a:solidFill>
                <a:latin typeface="Inter Bold" pitchFamily="34" charset="0"/>
                <a:ea typeface="Inter Bold" pitchFamily="34" charset="-122"/>
                <a:cs typeface="Inter Bold" pitchFamily="34" charset="-120"/>
              </a:rPr>
              <a:t>Our Workshop Dataset</a:t>
            </a:r>
            <a:endParaRPr lang="en-US" sz="2450" dirty="0"/>
          </a:p>
        </p:txBody>
      </p:sp>
      <p:sp>
        <p:nvSpPr>
          <p:cNvPr id="5" name="Shape 1"/>
          <p:cNvSpPr/>
          <p:nvPr/>
        </p:nvSpPr>
        <p:spPr>
          <a:xfrm>
            <a:off x="357188" y="1477612"/>
            <a:ext cx="4143375" cy="378619"/>
          </a:xfrm>
          <a:prstGeom prst="roundRect">
            <a:avLst/>
          </a:prstGeom>
          <a:solidFill>
            <a:srgbClr val="F1F5F9"/>
          </a:solidFill>
          <a:ln/>
        </p:spPr>
        <p:txBody>
          <a:bodyPr/>
          <a:lstStyle/>
          <a:p>
            <a:endParaRPr lang="en-GB"/>
          </a:p>
        </p:txBody>
      </p:sp>
      <p:sp>
        <p:nvSpPr>
          <p:cNvPr id="6" name="Text 2"/>
          <p:cNvSpPr/>
          <p:nvPr/>
        </p:nvSpPr>
        <p:spPr>
          <a:xfrm>
            <a:off x="357188" y="1477612"/>
            <a:ext cx="4143375" cy="378619"/>
          </a:xfrm>
          <a:prstGeom prst="rect">
            <a:avLst/>
          </a:prstGeom>
          <a:noFill/>
          <a:ln/>
        </p:spPr>
        <p:txBody>
          <a:bodyPr wrap="square" lIns="255143" tIns="102108" rIns="255143" bIns="102108" rtlCol="0" anchor="t">
            <a:spAutoFit/>
          </a:bodyPr>
          <a:lstStyle/>
          <a:p>
            <a:pPr marL="0" indent="0" algn="ctr">
              <a:buNone/>
            </a:pPr>
            <a:r>
              <a:rPr lang="en-US" sz="1200" b="1" dirty="0">
                <a:solidFill>
                  <a:srgbClr val="475569"/>
                </a:solidFill>
                <a:latin typeface="Inter Bold" pitchFamily="34" charset="0"/>
                <a:ea typeface="Inter Bold" pitchFamily="34" charset="-122"/>
                <a:cs typeface="Inter Bold" pitchFamily="34" charset="-120"/>
              </a:rPr>
              <a:t>The "Before" (Flat)</a:t>
            </a:r>
            <a:endParaRPr lang="en-US" sz="1200" dirty="0"/>
          </a:p>
        </p:txBody>
      </p:sp>
      <p:sp>
        <p:nvSpPr>
          <p:cNvPr id="7" name="Shape 3"/>
          <p:cNvSpPr/>
          <p:nvPr/>
        </p:nvSpPr>
        <p:spPr>
          <a:xfrm>
            <a:off x="392906" y="2249137"/>
            <a:ext cx="4071938" cy="714375"/>
          </a:xfrm>
          <a:prstGeom prst="rect">
            <a:avLst/>
          </a:prstGeom>
          <a:solidFill>
            <a:srgbClr val="FFFFFF"/>
          </a:solidFill>
          <a:ln/>
        </p:spPr>
        <p:txBody>
          <a:bodyPr/>
          <a:lstStyle/>
          <a:p>
            <a:endParaRPr lang="en-GB"/>
          </a:p>
        </p:txBody>
      </p:sp>
      <p:pic>
        <p:nvPicPr>
          <p:cNvPr id="8" name="Image 1" descr="preencoded.png"/>
          <p:cNvPicPr>
            <a:picLocks noChangeAspect="1"/>
          </p:cNvPicPr>
          <p:nvPr/>
        </p:nvPicPr>
        <p:blipFill>
          <a:blip r:embed="rId4"/>
          <a:stretch>
            <a:fillRect/>
          </a:stretch>
        </p:blipFill>
        <p:spPr>
          <a:xfrm>
            <a:off x="571500" y="2563462"/>
            <a:ext cx="171450" cy="228600"/>
          </a:xfrm>
          <a:prstGeom prst="rect">
            <a:avLst/>
          </a:prstGeom>
        </p:spPr>
      </p:pic>
      <p:sp>
        <p:nvSpPr>
          <p:cNvPr id="9" name="Text 4"/>
          <p:cNvSpPr/>
          <p:nvPr/>
        </p:nvSpPr>
        <p:spPr>
          <a:xfrm>
            <a:off x="885825" y="2596502"/>
            <a:ext cx="1629054" cy="162520"/>
          </a:xfrm>
          <a:prstGeom prst="rect">
            <a:avLst/>
          </a:prstGeom>
          <a:noFill/>
          <a:ln/>
        </p:spPr>
        <p:txBody>
          <a:bodyPr wrap="square" lIns="0" tIns="0" rIns="0" bIns="0" rtlCol="0" anchor="t">
            <a:spAutoFit/>
          </a:bodyPr>
          <a:lstStyle/>
          <a:p>
            <a:pPr marL="0" indent="0" algn="l">
              <a:buNone/>
            </a:pPr>
            <a:r>
              <a:rPr lang="en-US" sz="1000" b="1" dirty="0">
                <a:solidFill>
                  <a:srgbClr val="1E293B"/>
                </a:solidFill>
                <a:latin typeface="Courier New" pitchFamily="34" charset="0"/>
                <a:ea typeface="Courier New" pitchFamily="34" charset="-122"/>
                <a:cs typeface="Courier New" pitchFamily="34" charset="-120"/>
              </a:rPr>
              <a:t>flat_sales_data.csv</a:t>
            </a:r>
            <a:endParaRPr lang="en-US" sz="1000" dirty="0"/>
          </a:p>
        </p:txBody>
      </p:sp>
      <p:sp>
        <p:nvSpPr>
          <p:cNvPr id="10" name="Text 5"/>
          <p:cNvSpPr/>
          <p:nvPr/>
        </p:nvSpPr>
        <p:spPr>
          <a:xfrm>
            <a:off x="992981" y="3092100"/>
            <a:ext cx="2871788" cy="298252"/>
          </a:xfrm>
          <a:prstGeom prst="rect">
            <a:avLst/>
          </a:prstGeom>
          <a:noFill/>
          <a:ln/>
        </p:spPr>
        <p:txBody>
          <a:bodyPr wrap="square" lIns="0" tIns="170053" rIns="0" bIns="0" rtlCol="0" anchor="t">
            <a:spAutoFit/>
          </a:bodyPr>
          <a:lstStyle/>
          <a:p>
            <a:pPr marL="0" indent="0" algn="ctr">
              <a:buNone/>
            </a:pPr>
            <a:r>
              <a:rPr lang="en-US" sz="950" dirty="0">
                <a:solidFill>
                  <a:srgbClr val="64748B"/>
                </a:solidFill>
                <a:latin typeface="Inter" pitchFamily="34" charset="0"/>
                <a:ea typeface="Inter" pitchFamily="34" charset="-122"/>
                <a:cs typeface="Inter" pitchFamily="34" charset="-120"/>
              </a:rPr>
              <a:t>One giant table with everything mixed together.</a:t>
            </a:r>
            <a:endParaRPr lang="en-US" sz="950" dirty="0"/>
          </a:p>
        </p:txBody>
      </p:sp>
      <p:sp>
        <p:nvSpPr>
          <p:cNvPr id="11" name="Shape 6"/>
          <p:cNvSpPr/>
          <p:nvPr/>
        </p:nvSpPr>
        <p:spPr>
          <a:xfrm>
            <a:off x="4643438" y="1477612"/>
            <a:ext cx="4143375" cy="378619"/>
          </a:xfrm>
          <a:prstGeom prst="roundRect">
            <a:avLst/>
          </a:prstGeom>
          <a:solidFill>
            <a:srgbClr val="3B82F6"/>
          </a:solidFill>
          <a:ln/>
        </p:spPr>
        <p:txBody>
          <a:bodyPr/>
          <a:lstStyle/>
          <a:p>
            <a:endParaRPr lang="en-GB"/>
          </a:p>
        </p:txBody>
      </p:sp>
      <p:sp>
        <p:nvSpPr>
          <p:cNvPr id="12" name="Text 7"/>
          <p:cNvSpPr/>
          <p:nvPr/>
        </p:nvSpPr>
        <p:spPr>
          <a:xfrm>
            <a:off x="4643438" y="1477612"/>
            <a:ext cx="4143375" cy="378619"/>
          </a:xfrm>
          <a:prstGeom prst="rect">
            <a:avLst/>
          </a:prstGeom>
          <a:noFill/>
          <a:ln/>
        </p:spPr>
        <p:txBody>
          <a:bodyPr wrap="square" lIns="255143" tIns="102108" rIns="255143" bIns="102108" rtlCol="0" anchor="t">
            <a:spAutoFit/>
          </a:bodyPr>
          <a:lstStyle/>
          <a:p>
            <a:pPr marL="0" indent="0" algn="ctr">
              <a:buNone/>
            </a:pPr>
            <a:r>
              <a:rPr lang="en-US" sz="1200" b="1" dirty="0">
                <a:solidFill>
                  <a:srgbClr val="FFFFFF"/>
                </a:solidFill>
                <a:latin typeface="Inter Bold" pitchFamily="34" charset="0"/>
                <a:ea typeface="Inter Bold" pitchFamily="34" charset="-122"/>
                <a:cs typeface="Inter Bold" pitchFamily="34" charset="-120"/>
              </a:rPr>
              <a:t>The "After" (Normalized)</a:t>
            </a:r>
            <a:endParaRPr lang="en-US" sz="1200" dirty="0"/>
          </a:p>
        </p:txBody>
      </p:sp>
      <p:sp>
        <p:nvSpPr>
          <p:cNvPr id="13" name="Shape 8"/>
          <p:cNvSpPr/>
          <p:nvPr/>
        </p:nvSpPr>
        <p:spPr>
          <a:xfrm>
            <a:off x="4679156" y="2249137"/>
            <a:ext cx="4071938" cy="714375"/>
          </a:xfrm>
          <a:prstGeom prst="rect">
            <a:avLst/>
          </a:prstGeom>
          <a:solidFill>
            <a:srgbClr val="FFFFFF"/>
          </a:solidFill>
          <a:ln/>
        </p:spPr>
        <p:txBody>
          <a:bodyPr/>
          <a:lstStyle/>
          <a:p>
            <a:endParaRPr lang="en-GB"/>
          </a:p>
        </p:txBody>
      </p:sp>
      <p:pic>
        <p:nvPicPr>
          <p:cNvPr id="14" name="Image 2" descr="preencoded.png"/>
          <p:cNvPicPr>
            <a:picLocks noChangeAspect="1"/>
          </p:cNvPicPr>
          <p:nvPr/>
        </p:nvPicPr>
        <p:blipFill>
          <a:blip r:embed="rId5"/>
          <a:stretch>
            <a:fillRect/>
          </a:stretch>
        </p:blipFill>
        <p:spPr>
          <a:xfrm>
            <a:off x="4857750" y="2563462"/>
            <a:ext cx="171450" cy="228600"/>
          </a:xfrm>
          <a:prstGeom prst="rect">
            <a:avLst/>
          </a:prstGeom>
        </p:spPr>
      </p:pic>
      <p:sp>
        <p:nvSpPr>
          <p:cNvPr id="15" name="Text 9"/>
          <p:cNvSpPr/>
          <p:nvPr/>
        </p:nvSpPr>
        <p:spPr>
          <a:xfrm>
            <a:off x="5172075" y="2596502"/>
            <a:ext cx="1200345" cy="162520"/>
          </a:xfrm>
          <a:prstGeom prst="rect">
            <a:avLst/>
          </a:prstGeom>
          <a:noFill/>
          <a:ln/>
        </p:spPr>
        <p:txBody>
          <a:bodyPr wrap="none" lIns="0" tIns="0" rIns="0" bIns="0" rtlCol="0" anchor="t">
            <a:spAutoFit/>
          </a:bodyPr>
          <a:lstStyle/>
          <a:p>
            <a:pPr marL="0" indent="0" algn="l">
              <a:buNone/>
            </a:pPr>
            <a:r>
              <a:rPr lang="en-US" sz="1000" b="1" dirty="0">
                <a:solidFill>
                  <a:srgbClr val="1E293B"/>
                </a:solidFill>
                <a:latin typeface="Courier New" pitchFamily="34" charset="0"/>
                <a:ea typeface="Courier New" pitchFamily="34" charset="-122"/>
                <a:cs typeface="Courier New" pitchFamily="34" charset="-120"/>
              </a:rPr>
              <a:t>fact_sales.csv</a:t>
            </a:r>
            <a:endParaRPr lang="en-US" sz="1000" dirty="0"/>
          </a:p>
        </p:txBody>
      </p:sp>
      <p:sp>
        <p:nvSpPr>
          <p:cNvPr id="16" name="Shape 10"/>
          <p:cNvSpPr/>
          <p:nvPr/>
        </p:nvSpPr>
        <p:spPr>
          <a:xfrm>
            <a:off x="8204597" y="2596502"/>
            <a:ext cx="367903" cy="162520"/>
          </a:xfrm>
          <a:prstGeom prst="rect">
            <a:avLst/>
          </a:prstGeom>
          <a:solidFill>
            <a:srgbClr val="DBEAFE"/>
          </a:solidFill>
          <a:ln/>
        </p:spPr>
        <p:txBody>
          <a:bodyPr/>
          <a:lstStyle/>
          <a:p>
            <a:endParaRPr lang="en-GB"/>
          </a:p>
        </p:txBody>
      </p:sp>
      <p:sp>
        <p:nvSpPr>
          <p:cNvPr id="17" name="Text 11"/>
          <p:cNvSpPr/>
          <p:nvPr/>
        </p:nvSpPr>
        <p:spPr>
          <a:xfrm>
            <a:off x="8204597" y="2596502"/>
            <a:ext cx="367903" cy="162520"/>
          </a:xfrm>
          <a:prstGeom prst="rect">
            <a:avLst/>
          </a:prstGeom>
          <a:noFill/>
          <a:ln/>
        </p:spPr>
        <p:txBody>
          <a:bodyPr wrap="none" lIns="85090" tIns="34036" rIns="85090" bIns="34036" rtlCol="0" anchor="t">
            <a:spAutoFit/>
          </a:bodyPr>
          <a:lstStyle/>
          <a:p>
            <a:pPr marL="0" indent="0" algn="l">
              <a:buNone/>
            </a:pPr>
            <a:r>
              <a:rPr lang="en-US" sz="600" b="1" dirty="0">
                <a:solidFill>
                  <a:srgbClr val="1E40AF"/>
                </a:solidFill>
                <a:latin typeface="Inter Bold" pitchFamily="34" charset="0"/>
                <a:ea typeface="Inter Bold" pitchFamily="34" charset="-122"/>
                <a:cs typeface="Inter Bold" pitchFamily="34" charset="-120"/>
              </a:rPr>
              <a:t>FACT</a:t>
            </a:r>
            <a:endParaRPr lang="en-US" sz="600" dirty="0"/>
          </a:p>
        </p:txBody>
      </p:sp>
      <p:sp>
        <p:nvSpPr>
          <p:cNvPr id="18" name="Shape 12"/>
          <p:cNvSpPr/>
          <p:nvPr/>
        </p:nvSpPr>
        <p:spPr>
          <a:xfrm>
            <a:off x="4679156" y="3070668"/>
            <a:ext cx="4071938" cy="714375"/>
          </a:xfrm>
          <a:prstGeom prst="rect">
            <a:avLst/>
          </a:prstGeom>
          <a:solidFill>
            <a:srgbClr val="FFFFFF"/>
          </a:solidFill>
          <a:ln/>
        </p:spPr>
        <p:txBody>
          <a:bodyPr/>
          <a:lstStyle/>
          <a:p>
            <a:endParaRPr lang="en-GB"/>
          </a:p>
        </p:txBody>
      </p:sp>
      <p:pic>
        <p:nvPicPr>
          <p:cNvPr id="19" name="Image 3" descr="preencoded.png"/>
          <p:cNvPicPr>
            <a:picLocks noChangeAspect="1"/>
          </p:cNvPicPr>
          <p:nvPr/>
        </p:nvPicPr>
        <p:blipFill>
          <a:blip r:embed="rId6"/>
          <a:stretch>
            <a:fillRect/>
          </a:stretch>
        </p:blipFill>
        <p:spPr>
          <a:xfrm>
            <a:off x="4857750" y="3384993"/>
            <a:ext cx="171450" cy="228600"/>
          </a:xfrm>
          <a:prstGeom prst="rect">
            <a:avLst/>
          </a:prstGeom>
        </p:spPr>
      </p:pic>
      <p:sp>
        <p:nvSpPr>
          <p:cNvPr id="20" name="Text 13"/>
          <p:cNvSpPr/>
          <p:nvPr/>
        </p:nvSpPr>
        <p:spPr>
          <a:xfrm>
            <a:off x="5172075" y="3418033"/>
            <a:ext cx="1457576" cy="162520"/>
          </a:xfrm>
          <a:prstGeom prst="rect">
            <a:avLst/>
          </a:prstGeom>
          <a:noFill/>
          <a:ln/>
        </p:spPr>
        <p:txBody>
          <a:bodyPr wrap="square" lIns="0" tIns="0" rIns="0" bIns="0" rtlCol="0" anchor="t">
            <a:spAutoFit/>
          </a:bodyPr>
          <a:lstStyle/>
          <a:p>
            <a:pPr marL="0" indent="0" algn="l">
              <a:buNone/>
            </a:pPr>
            <a:r>
              <a:rPr lang="en-US" sz="1000" b="1" dirty="0">
                <a:solidFill>
                  <a:srgbClr val="1E293B"/>
                </a:solidFill>
                <a:latin typeface="Courier New" pitchFamily="34" charset="0"/>
                <a:ea typeface="Courier New" pitchFamily="34" charset="-122"/>
                <a:cs typeface="Courier New" pitchFamily="34" charset="-120"/>
              </a:rPr>
              <a:t>dim_customers.csv</a:t>
            </a:r>
            <a:endParaRPr lang="en-US" sz="1000" dirty="0"/>
          </a:p>
        </p:txBody>
      </p:sp>
      <p:sp>
        <p:nvSpPr>
          <p:cNvPr id="21" name="Shape 14"/>
          <p:cNvSpPr/>
          <p:nvPr/>
        </p:nvSpPr>
        <p:spPr>
          <a:xfrm>
            <a:off x="7934920" y="3418033"/>
            <a:ext cx="637580" cy="162520"/>
          </a:xfrm>
          <a:prstGeom prst="rect">
            <a:avLst/>
          </a:prstGeom>
          <a:solidFill>
            <a:srgbClr val="D1FAE5"/>
          </a:solidFill>
          <a:ln/>
        </p:spPr>
        <p:txBody>
          <a:bodyPr/>
          <a:lstStyle/>
          <a:p>
            <a:endParaRPr lang="en-GB"/>
          </a:p>
        </p:txBody>
      </p:sp>
      <p:sp>
        <p:nvSpPr>
          <p:cNvPr id="22" name="Text 15"/>
          <p:cNvSpPr/>
          <p:nvPr/>
        </p:nvSpPr>
        <p:spPr>
          <a:xfrm>
            <a:off x="7934920" y="3418033"/>
            <a:ext cx="637580" cy="162520"/>
          </a:xfrm>
          <a:prstGeom prst="rect">
            <a:avLst/>
          </a:prstGeom>
          <a:noFill/>
          <a:ln/>
        </p:spPr>
        <p:txBody>
          <a:bodyPr wrap="none" lIns="85090" tIns="34036" rIns="85090" bIns="34036" rtlCol="0" anchor="t">
            <a:spAutoFit/>
          </a:bodyPr>
          <a:lstStyle/>
          <a:p>
            <a:pPr marL="0" indent="0" algn="l">
              <a:buNone/>
            </a:pPr>
            <a:r>
              <a:rPr lang="en-US" sz="600" b="1" dirty="0">
                <a:solidFill>
                  <a:srgbClr val="065F46"/>
                </a:solidFill>
                <a:latin typeface="Inter Bold" pitchFamily="34" charset="0"/>
                <a:ea typeface="Inter Bold" pitchFamily="34" charset="-122"/>
                <a:cs typeface="Inter Bold" pitchFamily="34" charset="-120"/>
              </a:rPr>
              <a:t>DIMENSION</a:t>
            </a:r>
            <a:endParaRPr lang="en-US" sz="600" dirty="0"/>
          </a:p>
        </p:txBody>
      </p:sp>
      <p:sp>
        <p:nvSpPr>
          <p:cNvPr id="23" name="Shape 16"/>
          <p:cNvSpPr/>
          <p:nvPr/>
        </p:nvSpPr>
        <p:spPr>
          <a:xfrm>
            <a:off x="4679156" y="3892200"/>
            <a:ext cx="4071938" cy="714375"/>
          </a:xfrm>
          <a:prstGeom prst="rect">
            <a:avLst/>
          </a:prstGeom>
          <a:solidFill>
            <a:srgbClr val="FFFFFF"/>
          </a:solidFill>
          <a:ln/>
        </p:spPr>
        <p:txBody>
          <a:bodyPr/>
          <a:lstStyle/>
          <a:p>
            <a:endParaRPr lang="en-GB"/>
          </a:p>
        </p:txBody>
      </p:sp>
      <p:pic>
        <p:nvPicPr>
          <p:cNvPr id="24" name="Image 4" descr="preencoded.png"/>
          <p:cNvPicPr>
            <a:picLocks noChangeAspect="1"/>
          </p:cNvPicPr>
          <p:nvPr/>
        </p:nvPicPr>
        <p:blipFill>
          <a:blip r:embed="rId6"/>
          <a:stretch>
            <a:fillRect/>
          </a:stretch>
        </p:blipFill>
        <p:spPr>
          <a:xfrm>
            <a:off x="4857750" y="4206525"/>
            <a:ext cx="171450" cy="228600"/>
          </a:xfrm>
          <a:prstGeom prst="rect">
            <a:avLst/>
          </a:prstGeom>
        </p:spPr>
      </p:pic>
      <p:sp>
        <p:nvSpPr>
          <p:cNvPr id="25" name="Text 17"/>
          <p:cNvSpPr/>
          <p:nvPr/>
        </p:nvSpPr>
        <p:spPr>
          <a:xfrm>
            <a:off x="5172075" y="4239564"/>
            <a:ext cx="1371823" cy="162520"/>
          </a:xfrm>
          <a:prstGeom prst="rect">
            <a:avLst/>
          </a:prstGeom>
          <a:noFill/>
          <a:ln/>
        </p:spPr>
        <p:txBody>
          <a:bodyPr wrap="square" lIns="0" tIns="0" rIns="0" bIns="0" rtlCol="0" anchor="t">
            <a:spAutoFit/>
          </a:bodyPr>
          <a:lstStyle/>
          <a:p>
            <a:pPr marL="0" indent="0" algn="l">
              <a:buNone/>
            </a:pPr>
            <a:r>
              <a:rPr lang="en-US" sz="1000" b="1" dirty="0">
                <a:solidFill>
                  <a:srgbClr val="1E293B"/>
                </a:solidFill>
                <a:latin typeface="Courier New" pitchFamily="34" charset="0"/>
                <a:ea typeface="Courier New" pitchFamily="34" charset="-122"/>
                <a:cs typeface="Courier New" pitchFamily="34" charset="-120"/>
              </a:rPr>
              <a:t>dim_products.csv</a:t>
            </a:r>
            <a:endParaRPr lang="en-US" sz="1000" dirty="0"/>
          </a:p>
        </p:txBody>
      </p:sp>
      <p:sp>
        <p:nvSpPr>
          <p:cNvPr id="26" name="Shape 18"/>
          <p:cNvSpPr/>
          <p:nvPr/>
        </p:nvSpPr>
        <p:spPr>
          <a:xfrm>
            <a:off x="7934920" y="4239564"/>
            <a:ext cx="637580" cy="162520"/>
          </a:xfrm>
          <a:prstGeom prst="rect">
            <a:avLst/>
          </a:prstGeom>
          <a:solidFill>
            <a:srgbClr val="D1FAE5"/>
          </a:solidFill>
          <a:ln/>
        </p:spPr>
        <p:txBody>
          <a:bodyPr/>
          <a:lstStyle/>
          <a:p>
            <a:endParaRPr lang="en-GB"/>
          </a:p>
        </p:txBody>
      </p:sp>
      <p:sp>
        <p:nvSpPr>
          <p:cNvPr id="27" name="Text 19"/>
          <p:cNvSpPr/>
          <p:nvPr/>
        </p:nvSpPr>
        <p:spPr>
          <a:xfrm>
            <a:off x="7934920" y="4239564"/>
            <a:ext cx="637580" cy="162520"/>
          </a:xfrm>
          <a:prstGeom prst="rect">
            <a:avLst/>
          </a:prstGeom>
          <a:noFill/>
          <a:ln/>
        </p:spPr>
        <p:txBody>
          <a:bodyPr wrap="none" lIns="85090" tIns="34036" rIns="85090" bIns="34036" rtlCol="0" anchor="t">
            <a:spAutoFit/>
          </a:bodyPr>
          <a:lstStyle/>
          <a:p>
            <a:pPr marL="0" indent="0" algn="l">
              <a:buNone/>
            </a:pPr>
            <a:r>
              <a:rPr lang="en-US" sz="600" b="1" dirty="0">
                <a:solidFill>
                  <a:srgbClr val="065F46"/>
                </a:solidFill>
                <a:latin typeface="Inter Bold" pitchFamily="34" charset="0"/>
                <a:ea typeface="Inter Bold" pitchFamily="34" charset="-122"/>
                <a:cs typeface="Inter Bold" pitchFamily="34" charset="-120"/>
              </a:rPr>
              <a:t>DIMENSION</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7144"/>
            <a:ext cx="9144000" cy="5143500"/>
          </a:xfrm>
          <a:prstGeom prst="rect">
            <a:avLst/>
          </a:prstGeom>
        </p:spPr>
      </p:pic>
      <p:sp>
        <p:nvSpPr>
          <p:cNvPr id="4" name="Text 0"/>
          <p:cNvSpPr/>
          <p:nvPr/>
        </p:nvSpPr>
        <p:spPr>
          <a:xfrm>
            <a:off x="571500" y="706087"/>
            <a:ext cx="8572500" cy="414338"/>
          </a:xfrm>
          <a:prstGeom prst="rect">
            <a:avLst/>
          </a:prstGeom>
          <a:noFill/>
          <a:ln/>
        </p:spPr>
        <p:txBody>
          <a:bodyPr wrap="square" lIns="0" tIns="0" rIns="0" bIns="0" rtlCol="0" anchor="t">
            <a:spAutoFit/>
          </a:bodyPr>
          <a:lstStyle/>
          <a:p>
            <a:pPr marL="0" indent="0" algn="l">
              <a:buNone/>
            </a:pPr>
            <a:r>
              <a:rPr lang="en-US" sz="2450" b="1" dirty="0">
                <a:solidFill>
                  <a:srgbClr val="1E293B"/>
                </a:solidFill>
                <a:latin typeface="Inter Bold" pitchFamily="34" charset="0"/>
                <a:ea typeface="Inter Bold" pitchFamily="34" charset="-122"/>
                <a:cs typeface="Inter Bold" pitchFamily="34" charset="-120"/>
              </a:rPr>
              <a:t>Summary &amp; Next Steps</a:t>
            </a:r>
            <a:endParaRPr lang="en-US" sz="2450" dirty="0"/>
          </a:p>
        </p:txBody>
      </p:sp>
      <p:sp>
        <p:nvSpPr>
          <p:cNvPr id="5" name="Shape 1"/>
          <p:cNvSpPr/>
          <p:nvPr/>
        </p:nvSpPr>
        <p:spPr>
          <a:xfrm>
            <a:off x="571500" y="1620487"/>
            <a:ext cx="3714750" cy="475059"/>
          </a:xfrm>
          <a:prstGeom prst="roundRect">
            <a:avLst/>
          </a:prstGeom>
          <a:solidFill>
            <a:srgbClr val="FFFFFF"/>
          </a:solidFill>
          <a:ln/>
        </p:spPr>
        <p:txBody>
          <a:bodyPr/>
          <a:lstStyle/>
          <a:p>
            <a:endParaRPr lang="en-GB"/>
          </a:p>
        </p:txBody>
      </p:sp>
      <p:sp>
        <p:nvSpPr>
          <p:cNvPr id="6" name="Shape 2"/>
          <p:cNvSpPr/>
          <p:nvPr/>
        </p:nvSpPr>
        <p:spPr>
          <a:xfrm>
            <a:off x="571500" y="1620487"/>
            <a:ext cx="42863" cy="475059"/>
          </a:xfrm>
          <a:prstGeom prst="rect">
            <a:avLst/>
          </a:prstGeom>
          <a:solidFill>
            <a:srgbClr val="3B82F6"/>
          </a:solidFill>
          <a:ln/>
        </p:spPr>
        <p:txBody>
          <a:bodyPr/>
          <a:lstStyle/>
          <a:p>
            <a:endParaRPr lang="en-GB"/>
          </a:p>
        </p:txBody>
      </p:sp>
      <p:pic>
        <p:nvPicPr>
          <p:cNvPr id="7" name="Image 1" descr="preencoded.png"/>
          <p:cNvPicPr>
            <a:picLocks noChangeAspect="1"/>
          </p:cNvPicPr>
          <p:nvPr/>
        </p:nvPicPr>
        <p:blipFill>
          <a:blip r:embed="rId4"/>
          <a:stretch>
            <a:fillRect/>
          </a:stretch>
        </p:blipFill>
        <p:spPr>
          <a:xfrm>
            <a:off x="785813" y="1772292"/>
            <a:ext cx="171450" cy="171450"/>
          </a:xfrm>
          <a:prstGeom prst="rect">
            <a:avLst/>
          </a:prstGeom>
        </p:spPr>
      </p:pic>
      <p:sp>
        <p:nvSpPr>
          <p:cNvPr id="8" name="Text 3"/>
          <p:cNvSpPr/>
          <p:nvPr/>
        </p:nvSpPr>
        <p:spPr>
          <a:xfrm>
            <a:off x="1100138" y="1763362"/>
            <a:ext cx="2248495" cy="189309"/>
          </a:xfrm>
          <a:prstGeom prst="rect">
            <a:avLst/>
          </a:prstGeom>
          <a:noFill/>
          <a:ln/>
        </p:spPr>
        <p:txBody>
          <a:bodyPr wrap="square" lIns="0" tIns="0" rIns="0" bIns="0" rtlCol="0" anchor="t">
            <a:spAutoFit/>
          </a:bodyPr>
          <a:lstStyle/>
          <a:p>
            <a:pPr marL="0" indent="0" algn="l">
              <a:buNone/>
            </a:pPr>
            <a:r>
              <a:rPr lang="en-US" sz="1100" b="1" dirty="0">
                <a:solidFill>
                  <a:srgbClr val="1E293B"/>
                </a:solidFill>
                <a:latin typeface="Inter Bold" pitchFamily="34" charset="0"/>
                <a:ea typeface="Inter Bold" pitchFamily="34" charset="-122"/>
                <a:cs typeface="Inter Bold" pitchFamily="34" charset="-120"/>
              </a:rPr>
              <a:t>Normalization = Organization</a:t>
            </a:r>
            <a:endParaRPr lang="en-US" sz="1100" dirty="0"/>
          </a:p>
        </p:txBody>
      </p:sp>
      <p:sp>
        <p:nvSpPr>
          <p:cNvPr id="9" name="Shape 4"/>
          <p:cNvSpPr/>
          <p:nvPr/>
        </p:nvSpPr>
        <p:spPr>
          <a:xfrm>
            <a:off x="571500" y="2238422"/>
            <a:ext cx="3714750" cy="475059"/>
          </a:xfrm>
          <a:prstGeom prst="roundRect">
            <a:avLst/>
          </a:prstGeom>
          <a:solidFill>
            <a:srgbClr val="FFFFFF"/>
          </a:solidFill>
          <a:ln/>
        </p:spPr>
        <p:txBody>
          <a:bodyPr/>
          <a:lstStyle/>
          <a:p>
            <a:endParaRPr lang="en-GB"/>
          </a:p>
        </p:txBody>
      </p:sp>
      <p:sp>
        <p:nvSpPr>
          <p:cNvPr id="10" name="Shape 5"/>
          <p:cNvSpPr/>
          <p:nvPr/>
        </p:nvSpPr>
        <p:spPr>
          <a:xfrm>
            <a:off x="571500" y="2238422"/>
            <a:ext cx="42863" cy="475059"/>
          </a:xfrm>
          <a:prstGeom prst="rect">
            <a:avLst/>
          </a:prstGeom>
          <a:solidFill>
            <a:srgbClr val="3B82F6"/>
          </a:solidFill>
          <a:ln/>
        </p:spPr>
        <p:txBody>
          <a:bodyPr/>
          <a:lstStyle/>
          <a:p>
            <a:endParaRPr lang="en-GB"/>
          </a:p>
        </p:txBody>
      </p:sp>
      <p:pic>
        <p:nvPicPr>
          <p:cNvPr id="11" name="Image 2" descr="preencoded.png"/>
          <p:cNvPicPr>
            <a:picLocks noChangeAspect="1"/>
          </p:cNvPicPr>
          <p:nvPr/>
        </p:nvPicPr>
        <p:blipFill>
          <a:blip r:embed="rId5"/>
          <a:stretch>
            <a:fillRect/>
          </a:stretch>
        </p:blipFill>
        <p:spPr>
          <a:xfrm>
            <a:off x="785813" y="2390226"/>
            <a:ext cx="150019" cy="171450"/>
          </a:xfrm>
          <a:prstGeom prst="rect">
            <a:avLst/>
          </a:prstGeom>
        </p:spPr>
      </p:pic>
      <p:sp>
        <p:nvSpPr>
          <p:cNvPr id="12" name="Text 6"/>
          <p:cNvSpPr/>
          <p:nvPr/>
        </p:nvSpPr>
        <p:spPr>
          <a:xfrm>
            <a:off x="1078706" y="2381297"/>
            <a:ext cx="2003822" cy="189309"/>
          </a:xfrm>
          <a:prstGeom prst="rect">
            <a:avLst/>
          </a:prstGeom>
          <a:noFill/>
          <a:ln/>
        </p:spPr>
        <p:txBody>
          <a:bodyPr wrap="square" lIns="0" tIns="0" rIns="0" bIns="0" rtlCol="0" anchor="t">
            <a:spAutoFit/>
          </a:bodyPr>
          <a:lstStyle/>
          <a:p>
            <a:pPr marL="0" indent="0" algn="l">
              <a:buNone/>
            </a:pPr>
            <a:r>
              <a:rPr lang="en-US" sz="1100" b="1" dirty="0">
                <a:solidFill>
                  <a:srgbClr val="1E293B"/>
                </a:solidFill>
                <a:latin typeface="Inter Bold" pitchFamily="34" charset="0"/>
                <a:ea typeface="Inter Bold" pitchFamily="34" charset="-122"/>
                <a:cs typeface="Inter Bold" pitchFamily="34" charset="-120"/>
              </a:rPr>
              <a:t>Facts = Events &amp; Numbers</a:t>
            </a:r>
            <a:endParaRPr lang="en-US" sz="1100" dirty="0"/>
          </a:p>
        </p:txBody>
      </p:sp>
      <p:sp>
        <p:nvSpPr>
          <p:cNvPr id="13" name="Shape 7"/>
          <p:cNvSpPr/>
          <p:nvPr/>
        </p:nvSpPr>
        <p:spPr>
          <a:xfrm>
            <a:off x="571500" y="2856356"/>
            <a:ext cx="3714750" cy="475059"/>
          </a:xfrm>
          <a:prstGeom prst="roundRect">
            <a:avLst/>
          </a:prstGeom>
          <a:solidFill>
            <a:srgbClr val="FFFFFF"/>
          </a:solidFill>
          <a:ln/>
        </p:spPr>
        <p:txBody>
          <a:bodyPr/>
          <a:lstStyle/>
          <a:p>
            <a:endParaRPr lang="en-GB"/>
          </a:p>
        </p:txBody>
      </p:sp>
      <p:sp>
        <p:nvSpPr>
          <p:cNvPr id="14" name="Shape 8"/>
          <p:cNvSpPr/>
          <p:nvPr/>
        </p:nvSpPr>
        <p:spPr>
          <a:xfrm>
            <a:off x="571500" y="2856356"/>
            <a:ext cx="42863" cy="475059"/>
          </a:xfrm>
          <a:prstGeom prst="rect">
            <a:avLst/>
          </a:prstGeom>
          <a:solidFill>
            <a:srgbClr val="3B82F6"/>
          </a:solidFill>
          <a:ln/>
        </p:spPr>
        <p:txBody>
          <a:bodyPr/>
          <a:lstStyle/>
          <a:p>
            <a:endParaRPr lang="en-GB"/>
          </a:p>
        </p:txBody>
      </p:sp>
      <p:pic>
        <p:nvPicPr>
          <p:cNvPr id="15" name="Image 3" descr="preencoded.png"/>
          <p:cNvPicPr>
            <a:picLocks noChangeAspect="1"/>
          </p:cNvPicPr>
          <p:nvPr/>
        </p:nvPicPr>
        <p:blipFill>
          <a:blip r:embed="rId6"/>
          <a:stretch>
            <a:fillRect/>
          </a:stretch>
        </p:blipFill>
        <p:spPr>
          <a:xfrm>
            <a:off x="785813" y="3008161"/>
            <a:ext cx="171450" cy="171450"/>
          </a:xfrm>
          <a:prstGeom prst="rect">
            <a:avLst/>
          </a:prstGeom>
        </p:spPr>
      </p:pic>
      <p:sp>
        <p:nvSpPr>
          <p:cNvPr id="16" name="Text 9"/>
          <p:cNvSpPr/>
          <p:nvPr/>
        </p:nvSpPr>
        <p:spPr>
          <a:xfrm>
            <a:off x="1100138" y="2999231"/>
            <a:ext cx="2060972" cy="189309"/>
          </a:xfrm>
          <a:prstGeom prst="rect">
            <a:avLst/>
          </a:prstGeom>
          <a:noFill/>
          <a:ln/>
        </p:spPr>
        <p:txBody>
          <a:bodyPr wrap="square" lIns="0" tIns="0" rIns="0" bIns="0" rtlCol="0" anchor="t">
            <a:spAutoFit/>
          </a:bodyPr>
          <a:lstStyle/>
          <a:p>
            <a:pPr marL="0" indent="0" algn="l">
              <a:buNone/>
            </a:pPr>
            <a:r>
              <a:rPr lang="en-US" sz="1100" b="1" dirty="0">
                <a:solidFill>
                  <a:srgbClr val="1E293B"/>
                </a:solidFill>
                <a:latin typeface="Inter Bold" pitchFamily="34" charset="0"/>
                <a:ea typeface="Inter Bold" pitchFamily="34" charset="-122"/>
                <a:cs typeface="Inter Bold" pitchFamily="34" charset="-120"/>
              </a:rPr>
              <a:t>Dimensions = Descriptions</a:t>
            </a:r>
            <a:endParaRPr lang="en-US" sz="1100" dirty="0"/>
          </a:p>
        </p:txBody>
      </p:sp>
      <p:sp>
        <p:nvSpPr>
          <p:cNvPr id="17" name="Shape 10"/>
          <p:cNvSpPr/>
          <p:nvPr/>
        </p:nvSpPr>
        <p:spPr>
          <a:xfrm>
            <a:off x="571500" y="3474290"/>
            <a:ext cx="3714750" cy="475059"/>
          </a:xfrm>
          <a:prstGeom prst="roundRect">
            <a:avLst/>
          </a:prstGeom>
          <a:solidFill>
            <a:srgbClr val="FFFFFF"/>
          </a:solidFill>
          <a:ln/>
        </p:spPr>
        <p:txBody>
          <a:bodyPr/>
          <a:lstStyle/>
          <a:p>
            <a:endParaRPr lang="en-GB"/>
          </a:p>
        </p:txBody>
      </p:sp>
      <p:sp>
        <p:nvSpPr>
          <p:cNvPr id="18" name="Shape 11"/>
          <p:cNvSpPr/>
          <p:nvPr/>
        </p:nvSpPr>
        <p:spPr>
          <a:xfrm>
            <a:off x="571500" y="3474290"/>
            <a:ext cx="42863" cy="475059"/>
          </a:xfrm>
          <a:prstGeom prst="rect">
            <a:avLst/>
          </a:prstGeom>
          <a:solidFill>
            <a:srgbClr val="3B82F6"/>
          </a:solidFill>
          <a:ln/>
        </p:spPr>
        <p:txBody>
          <a:bodyPr/>
          <a:lstStyle/>
          <a:p>
            <a:endParaRPr lang="en-GB"/>
          </a:p>
        </p:txBody>
      </p:sp>
      <p:pic>
        <p:nvPicPr>
          <p:cNvPr id="19" name="Image 4" descr="preencoded.png"/>
          <p:cNvPicPr>
            <a:picLocks noChangeAspect="1"/>
          </p:cNvPicPr>
          <p:nvPr/>
        </p:nvPicPr>
        <p:blipFill>
          <a:blip r:embed="rId7"/>
          <a:stretch>
            <a:fillRect/>
          </a:stretch>
        </p:blipFill>
        <p:spPr>
          <a:xfrm>
            <a:off x="785813" y="3626095"/>
            <a:ext cx="192881" cy="171450"/>
          </a:xfrm>
          <a:prstGeom prst="rect">
            <a:avLst/>
          </a:prstGeom>
        </p:spPr>
      </p:pic>
      <p:sp>
        <p:nvSpPr>
          <p:cNvPr id="20" name="Text 12"/>
          <p:cNvSpPr/>
          <p:nvPr/>
        </p:nvSpPr>
        <p:spPr>
          <a:xfrm>
            <a:off x="1121569" y="3617165"/>
            <a:ext cx="1812727" cy="189309"/>
          </a:xfrm>
          <a:prstGeom prst="rect">
            <a:avLst/>
          </a:prstGeom>
          <a:noFill/>
          <a:ln/>
        </p:spPr>
        <p:txBody>
          <a:bodyPr wrap="square" lIns="0" tIns="0" rIns="0" bIns="0" rtlCol="0" anchor="t">
            <a:spAutoFit/>
          </a:bodyPr>
          <a:lstStyle/>
          <a:p>
            <a:pPr marL="0" indent="0" algn="l">
              <a:buNone/>
            </a:pPr>
            <a:r>
              <a:rPr lang="en-US" sz="1100" b="1" dirty="0">
                <a:solidFill>
                  <a:srgbClr val="1E293B"/>
                </a:solidFill>
                <a:latin typeface="Inter Bold" pitchFamily="34" charset="0"/>
                <a:ea typeface="Inter Bold" pitchFamily="34" charset="-122"/>
                <a:cs typeface="Inter Bold" pitchFamily="34" charset="-120"/>
              </a:rPr>
              <a:t>Star Schema = Success</a:t>
            </a:r>
            <a:endParaRPr lang="en-US" sz="1100" dirty="0"/>
          </a:p>
        </p:txBody>
      </p:sp>
      <p:sp>
        <p:nvSpPr>
          <p:cNvPr id="21" name="Text 13"/>
          <p:cNvSpPr/>
          <p:nvPr/>
        </p:nvSpPr>
        <p:spPr>
          <a:xfrm>
            <a:off x="571500" y="4235100"/>
            <a:ext cx="3714750" cy="173236"/>
          </a:xfrm>
          <a:prstGeom prst="rect">
            <a:avLst/>
          </a:prstGeom>
          <a:noFill/>
          <a:ln/>
        </p:spPr>
        <p:txBody>
          <a:bodyPr wrap="square" lIns="0" tIns="0" rIns="0" bIns="0" rtlCol="0" anchor="t">
            <a:spAutoFit/>
          </a:bodyPr>
          <a:lstStyle/>
          <a:p>
            <a:pPr marL="0" indent="0" algn="l">
              <a:buNone/>
            </a:pPr>
            <a:r>
              <a:rPr lang="en-US" sz="1050" i="1" dirty="0">
                <a:solidFill>
                  <a:srgbClr val="64748B"/>
                </a:solidFill>
                <a:latin typeface="Inter" pitchFamily="34" charset="0"/>
                <a:ea typeface="Inter" pitchFamily="34" charset="-122"/>
                <a:cs typeface="Inter" pitchFamily="34" charset="-120"/>
              </a:rPr>
              <a:t>Up Next: Hands-on with our workshop dataset!</a:t>
            </a:r>
            <a:endParaRPr lang="en-US" sz="1050" dirty="0"/>
          </a:p>
        </p:txBody>
      </p:sp>
      <p:sp>
        <p:nvSpPr>
          <p:cNvPr id="22" name="Shape 14"/>
          <p:cNvSpPr/>
          <p:nvPr/>
        </p:nvSpPr>
        <p:spPr>
          <a:xfrm>
            <a:off x="4857750" y="1620487"/>
            <a:ext cx="3714750" cy="3515869"/>
          </a:xfrm>
          <a:prstGeom prst="rect">
            <a:avLst/>
          </a:prstGeom>
          <a:solidFill>
            <a:srgbClr val="FFFFFF"/>
          </a:solidFill>
          <a:ln/>
        </p:spPr>
        <p:txBody>
          <a:bodyPr/>
          <a:lstStyle/>
          <a:p>
            <a:endParaRPr lang="en-GB"/>
          </a:p>
        </p:txBody>
      </p:sp>
      <p:pic>
        <p:nvPicPr>
          <p:cNvPr id="23" name="Image 5" descr="preencoded.png"/>
          <p:cNvPicPr>
            <a:picLocks noChangeAspect="1"/>
          </p:cNvPicPr>
          <p:nvPr/>
        </p:nvPicPr>
        <p:blipFill>
          <a:blip r:embed="rId8"/>
          <a:stretch>
            <a:fillRect/>
          </a:stretch>
        </p:blipFill>
        <p:spPr>
          <a:xfrm>
            <a:off x="6179344" y="2610455"/>
            <a:ext cx="1071563" cy="857250"/>
          </a:xfrm>
          <a:prstGeom prst="rect">
            <a:avLst/>
          </a:prstGeom>
        </p:spPr>
      </p:pic>
      <p:sp>
        <p:nvSpPr>
          <p:cNvPr id="24" name="Text 15"/>
          <p:cNvSpPr/>
          <p:nvPr/>
        </p:nvSpPr>
        <p:spPr>
          <a:xfrm>
            <a:off x="5763220" y="3710592"/>
            <a:ext cx="1903809" cy="414338"/>
          </a:xfrm>
          <a:prstGeom prst="rect">
            <a:avLst/>
          </a:prstGeom>
          <a:noFill/>
          <a:ln/>
        </p:spPr>
        <p:txBody>
          <a:bodyPr wrap="square" lIns="0" tIns="0" rIns="0" bIns="0" rtlCol="0" anchor="t">
            <a:spAutoFit/>
          </a:bodyPr>
          <a:lstStyle/>
          <a:p>
            <a:pPr marL="0" indent="0" algn="l">
              <a:buNone/>
            </a:pPr>
            <a:r>
              <a:rPr lang="en-US" sz="2450" b="1" dirty="0">
                <a:solidFill>
                  <a:srgbClr val="1E293B"/>
                </a:solidFill>
                <a:latin typeface="Inter Bold" pitchFamily="34" charset="0"/>
                <a:ea typeface="Inter Bold" pitchFamily="34" charset="-122"/>
                <a:cs typeface="Inter Bold" pitchFamily="34" charset="-120"/>
              </a:rPr>
              <a:t>Questions?</a:t>
            </a:r>
            <a:endParaRPr lang="en-US" sz="2450" dirty="0"/>
          </a:p>
        </p:txBody>
      </p:sp>
      <p:sp>
        <p:nvSpPr>
          <p:cNvPr id="25" name="Text 16"/>
          <p:cNvSpPr/>
          <p:nvPr/>
        </p:nvSpPr>
        <p:spPr>
          <a:xfrm>
            <a:off x="6253460" y="4196367"/>
            <a:ext cx="923330" cy="173236"/>
          </a:xfrm>
          <a:prstGeom prst="rect">
            <a:avLst/>
          </a:prstGeom>
          <a:noFill/>
          <a:ln/>
        </p:spPr>
        <p:txBody>
          <a:bodyPr wrap="none" lIns="0" tIns="0" rIns="0" bIns="0" rtlCol="0" anchor="t">
            <a:spAutoFit/>
          </a:bodyPr>
          <a:lstStyle/>
          <a:p>
            <a:pPr marL="0" indent="0" algn="l">
              <a:buNone/>
            </a:pPr>
            <a:r>
              <a:rPr lang="en-US" sz="1050" dirty="0">
                <a:solidFill>
                  <a:srgbClr val="64748B"/>
                </a:solidFill>
                <a:latin typeface="Inter" pitchFamily="34" charset="0"/>
                <a:ea typeface="Inter" pitchFamily="34" charset="-122"/>
                <a:cs typeface="Inter" pitchFamily="34" charset="-120"/>
              </a:rPr>
              <a:t>Let's discuss!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1522</Words>
  <Application>Microsoft Office PowerPoint</Application>
  <PresentationFormat>On-screen Show (16:9)</PresentationFormat>
  <Paragraphs>149</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Courier New</vt:lpstr>
      <vt:lpstr>Inter</vt:lpstr>
      <vt:lpstr>Inter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Adam Abedini</cp:lastModifiedBy>
  <cp:revision>2</cp:revision>
  <dcterms:created xsi:type="dcterms:W3CDTF">2026-04-28T02:23:08Z</dcterms:created>
  <dcterms:modified xsi:type="dcterms:W3CDTF">2026-04-28T02:49:14Z</dcterms:modified>
</cp:coreProperties>
</file>